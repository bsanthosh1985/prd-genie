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A0FDBC2-1085-CF9F-1F99-C4BBE2778157}">
          <p14:sldIdLst>
            <p14:sldId id="256"/>
            <p14:sldId id="257"/>
            <p14:sldId id="258"/>
          </p14:sldIdLst>
        </p14:section>
        <p14:section name="Build" id="{30B943A6-E8B5-54CB-6B18-7B74DA6D3A09}">
          <p14:sldIdLst>
            <p14:sldId id="259"/>
            <p14:sldId id="260"/>
            <p14:sldId id="261"/>
          </p14:sldIdLst>
        </p14:section>
        <p14:section name="Proof" id="{34C90005-179E-C825-0261-4216FEB0C443}">
          <p14:sldIdLst>
            <p14:sldId id="262"/>
            <p14:sldId id="263"/>
            <p14:sldId id="264"/>
          </p14:sldIdLst>
        </p14:section>
        <p14:section name="Close" id="{5A8077AF-B1FF-EE28-C306-D505D2894C8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8842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Introduce yourself and the one-line pitch: PRD Genie reads meeting notes and produces PRDs, epics and stories, and refuses to invent what the notes do not say.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These four pain points come straight from the project brief: manual scope gathering, manual PRDs, inconsistent formats, and notes nobody revisits.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Input on the left, outputs on the right. The key promise: when the notes are thin, PRD Genie asks questions instead of filling in blanks.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Walk left to right. Sequential pattern because every input needs the same stages in the same order. Gap analysis and sizing depend only on the stories, so they run in parallel. Mention the three side systems: the branch for thin input, Pinecone for format, Langfuse for tracing. The full diagram is in the repo.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These four controls are why the output can be trusted. Quote requirement plus grounding score is the main anti-hallucination device. Then show the empty-section behaviour, the unresolved conflicts, and the template that only controls format.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and this is the live demo moment. Show the Inbox folder, run the Drive Intake workflow, then open one generated PRD from the Outputs folder and scroll through the PRD, the epics and stories, and the gap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12 of 12 on the project brief's baseline set. Be honest that prompts were tuned on these same tests. Point out the history: 9 of 12 on the first run, with failures on T2, T4 and T6, each fixed with a single prompt rule.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Three real findings from Langfuse. The first two show that traces and scores can look healthy while the output is wrong. The third shows why the regression suite runs on every prompt or model change.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Roughly half a cent per PRD, from the Langfuse trace. Say that the at-scale figure is an estimate from the per-run number.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Close with the honest limits, then the next steps. Langfuse's old ingestion endpoint stops accepting traces on 16 November 2026, so the tracing migration is the dated item. End on the repo link.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2"/>
        </a:solidFill>
        <a:effectLst/>
      </p:bgPr>
    </p:bg>
    <p:spTree>
      <p:nvGrpSpPr>
        <p:cNvPr id="1" name=""/>
        <p:cNvGrpSpPr/>
        <p:nvPr/>
      </p:nvGrpSpPr>
      <p:grpSpPr>
        <a:xfrm>
          <a:off x="0" y="0"/>
          <a:ext cx="0" cy="0"/>
          <a:chOff x="0" y="0"/>
          <a:chExt cx="0" cy="0"/>
        </a:xfrm>
      </p:grpSpPr>
      <p:sp>
        <p:nvSpPr>
          <p:cNvPr id="2" name="Text 0"/>
          <p:cNvSpPr txBox="1"/>
          <p:nvPr/>
        </p:nvSpPr>
        <p:spPr>
          <a:xfrm>
            <a:off x="640080" y="6382512"/>
            <a:ext cx="3657600" cy="274320"/>
          </a:xfrm>
          <a:prstGeom prst="rect">
            <a:avLst/>
          </a:prstGeom>
          <a:noFill/>
          <a:ln/>
        </p:spPr>
        <p:txBody>
          <a:bodyPr wrap="square" lIns="0" tIns="0" rIns="0" bIns="0" rtlCol="0" anchor="ctr"/>
          <a:lstStyle/>
          <a:p>
            <a:pPr marL="0" indent="0">
              <a:buNone/>
            </a:pPr>
            <a:r>
              <a:rPr lang="en-US" sz="1100" dirty="0">
                <a:solidFill>
                  <a:schemeClr val="accent5"/>
                </a:solidFill>
              </a:rPr>
              <a:t>PRD Genie</a:t>
            </a:r>
            <a:endParaRPr lang="en-US" sz="1100" dirty="0"/>
          </a:p>
        </p:txBody>
      </p:sp>
      <p:sp>
        <p:nvSpPr>
          <p:cNvPr id="3" name="Text 1"/>
          <p:cNvSpPr>
            <a:spLocks noGrp="1"/>
          </p:cNvSpPr>
          <p:nvPr>
            <p:ph type="body" idx="101" hasCustomPrompt="1"/>
          </p:nvPr>
        </p:nvSpPr>
        <p:spPr>
          <a:xfrm>
            <a:off x="640080" y="384048"/>
            <a:ext cx="8229600" cy="274320"/>
          </a:xfrm>
          <a:prstGeom prst="rect">
            <a:avLst/>
          </a:prstGeom>
          <a:noFill/>
          <a:ln/>
        </p:spPr>
        <p:txBody>
          <a:bodyPr wrap="square" rtlCol="0"/>
          <a:lstStyle>
            <a:lvl1pPr marL="0" indent="0">
              <a:buNone/>
              <a:defRPr lang="en-US" sz="1300" b="1" kern="0" spc="300" dirty="0">
                <a:solidFill>
                  <a:schemeClr val="accent1"/>
                </a:solidFill>
              </a:defRPr>
            </a:lvl1pPr>
          </a:lstStyle>
          <a:p>
            <a:pPr marL="0" indent="0">
              <a:buNone/>
            </a:pPr>
            <a:endParaRPr lang="en-US" sz="1300" dirty="0"/>
          </a:p>
        </p:txBody>
      </p:sp>
      <p:sp>
        <p:nvSpPr>
          <p:cNvPr id="4" name="Text 1"/>
          <p:cNvSpPr>
            <a:spLocks noGrp="1"/>
          </p:cNvSpPr>
          <p:nvPr>
            <p:ph type="title" idx="102" hasCustomPrompt="1"/>
          </p:nvPr>
        </p:nvSpPr>
        <p:spPr>
          <a:xfrm>
            <a:off x="640080" y="713232"/>
            <a:ext cx="10881360" cy="86868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a:effectLst/>
      </p:bgPr>
    </p:bg>
    <p:spTree>
      <p:nvGrpSpPr>
        <p:cNvPr id="1" name=""/>
        <p:cNvGrpSpPr/>
        <p:nvPr/>
      </p:nvGrpSpPr>
      <p:grpSpPr>
        <a:xfrm>
          <a:off x="0" y="0"/>
          <a:ext cx="0" cy="0"/>
          <a:chOff x="0" y="0"/>
          <a:chExt cx="0" cy="0"/>
        </a:xfrm>
      </p:grpSpPr>
      <p:sp>
        <p:nvSpPr>
          <p:cNvPr id="2" name="Text 0"/>
          <p:cNvSpPr txBox="1"/>
          <p:nvPr/>
        </p:nvSpPr>
        <p:spPr>
          <a:xfrm>
            <a:off x="640080" y="6382512"/>
            <a:ext cx="3657600" cy="274320"/>
          </a:xfrm>
          <a:prstGeom prst="rect">
            <a:avLst/>
          </a:prstGeom>
          <a:noFill/>
          <a:ln/>
        </p:spPr>
        <p:txBody>
          <a:bodyPr wrap="square" lIns="0" tIns="0" rIns="0" bIns="0" rtlCol="0" anchor="ctr"/>
          <a:lstStyle/>
          <a:p>
            <a:pPr marL="0" indent="0">
              <a:buNone/>
            </a:pPr>
            <a:r>
              <a:rPr lang="en-US" sz="1100" dirty="0">
                <a:solidFill>
                  <a:schemeClr val="accent2"/>
                </a:solidFill>
              </a:rPr>
              <a:t>PRD Genie</a:t>
            </a:r>
            <a:endParaRPr lang="en-US" sz="1100" dirty="0"/>
          </a:p>
        </p:txBody>
      </p:sp>
      <p:sp>
        <p:nvSpPr>
          <p:cNvPr id="3" name="Text 1"/>
          <p:cNvSpPr>
            <a:spLocks noGrp="1"/>
          </p:cNvSpPr>
          <p:nvPr>
            <p:ph type="body" idx="101" hasCustomPrompt="1"/>
          </p:nvPr>
        </p:nvSpPr>
        <p:spPr>
          <a:xfrm>
            <a:off x="640080" y="384048"/>
            <a:ext cx="8229600" cy="274320"/>
          </a:xfrm>
          <a:prstGeom prst="rect">
            <a:avLst/>
          </a:prstGeom>
          <a:noFill/>
          <a:ln/>
        </p:spPr>
        <p:txBody>
          <a:bodyPr wrap="square" rtlCol="0"/>
          <a:lstStyle>
            <a:lvl1pPr marL="0" indent="0">
              <a:buNone/>
              <a:defRPr lang="en-US" sz="1300" b="1" kern="0" spc="300" dirty="0">
                <a:solidFill>
                  <a:schemeClr val="accent2"/>
                </a:solidFill>
              </a:defRPr>
            </a:lvl1pPr>
          </a:lstStyle>
          <a:p>
            <a:pPr marL="0" indent="0">
              <a:buNone/>
            </a:pPr>
            <a:endParaRPr lang="en-US" sz="1300" dirty="0"/>
          </a:p>
        </p:txBody>
      </p:sp>
      <p:sp>
        <p:nvSpPr>
          <p:cNvPr id="4" name="Text 1"/>
          <p:cNvSpPr>
            <a:spLocks noGrp="1"/>
          </p:cNvSpPr>
          <p:nvPr>
            <p:ph type="title" idx="102" hasCustomPrompt="1"/>
          </p:nvPr>
        </p:nvSpPr>
        <p:spPr>
          <a:xfrm>
            <a:off x="640080" y="713232"/>
            <a:ext cx="10881360" cy="868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731520"/>
            <a:ext cx="9144000" cy="320040"/>
          </a:xfrm>
          <a:prstGeom prst="rect">
            <a:avLst/>
          </a:prstGeom>
          <a:noFill/>
          <a:ln/>
        </p:spPr>
        <p:txBody>
          <a:bodyPr wrap="square" rtlCol="0"/>
          <a:lstStyle>
            <a:lvl1pPr marL="0" indent="0">
              <a:buNone/>
              <a:defRPr lang="en-US" sz="1400" b="1" kern="0" spc="300" dirty="0">
                <a:solidFill>
                  <a:schemeClr val="accent2"/>
                </a:solidFill>
              </a:defRPr>
            </a:lvl1pPr>
          </a:lstStyle>
          <a:p>
            <a:pPr marL="0" indent="0">
              <a:buNone/>
            </a:pPr>
            <a:endParaRPr lang="en-US" sz="1400" dirty="0"/>
          </a:p>
        </p:txBody>
      </p:sp>
      <p:sp>
        <p:nvSpPr>
          <p:cNvPr id="3" name="Text 0"/>
          <p:cNvSpPr>
            <a:spLocks noGrp="1"/>
          </p:cNvSpPr>
          <p:nvPr>
            <p:ph type="title" idx="101" hasCustomPrompt="1"/>
          </p:nvPr>
        </p:nvSpPr>
        <p:spPr>
          <a:xfrm>
            <a:off x="731520" y="2103120"/>
            <a:ext cx="7315200" cy="1280160"/>
          </a:xfrm>
          <a:prstGeom prst="rect">
            <a:avLst/>
          </a:prstGeom>
          <a:noFill/>
          <a:ln/>
        </p:spPr>
        <p:txBody>
          <a:bodyPr wrap="square" rtlCol="0"/>
          <a:lstStyle>
            <a:lvl1pPr marL="0" indent="0" algn="l">
              <a:buNone/>
              <a:defRPr lang="en-US" sz="7200" b="1" dirty="0">
                <a:solidFill>
                  <a:schemeClr val="bg1"/>
                </a:solidFill>
              </a:defRPr>
            </a:lvl1pPr>
          </a:lstStyle>
          <a:p>
            <a:pPr marL="0" indent="0" algn="l">
              <a:buNone/>
            </a:pPr>
            <a:endParaRPr lang="en-US" sz="7200" dirty="0"/>
          </a:p>
        </p:txBody>
      </p:sp>
      <p:sp>
        <p:nvSpPr>
          <p:cNvPr id="4" name="Text 0"/>
          <p:cNvSpPr>
            <a:spLocks noGrp="1"/>
          </p:cNvSpPr>
          <p:nvPr>
            <p:ph type="body" idx="102" hasCustomPrompt="1"/>
          </p:nvPr>
        </p:nvSpPr>
        <p:spPr>
          <a:xfrm>
            <a:off x="731520" y="3520440"/>
            <a:ext cx="6949440" cy="128016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_ACCENT">
    <p:bg>
      <p:bgPr>
        <a:solidFill>
          <a:schemeClr val="accent1"/>
        </a:solidFill>
        <a:effectLst/>
      </p:bgPr>
    </p:bg>
    <p:spTree>
      <p:nvGrpSpPr>
        <p:cNvPr id="1" name=""/>
        <p:cNvGrpSpPr/>
        <p:nvPr/>
      </p:nvGrpSpPr>
      <p:grpSpPr>
        <a:xfrm>
          <a:off x="0" y="0"/>
          <a:ext cx="0" cy="0"/>
          <a:chOff x="0" y="0"/>
          <a:chExt cx="0" cy="0"/>
        </a:xfrm>
      </p:grpSpPr>
      <p:sp>
        <p:nvSpPr>
          <p:cNvPr id="2" name="Text 0"/>
          <p:cNvSpPr txBox="1"/>
          <p:nvPr/>
        </p:nvSpPr>
        <p:spPr>
          <a:xfrm>
            <a:off x="640080" y="6382512"/>
            <a:ext cx="3657600" cy="274320"/>
          </a:xfrm>
          <a:prstGeom prst="rect">
            <a:avLst/>
          </a:prstGeom>
          <a:noFill/>
          <a:ln/>
        </p:spPr>
        <p:txBody>
          <a:bodyPr wrap="square" lIns="0" tIns="0" rIns="0" bIns="0" rtlCol="0" anchor="ctr"/>
          <a:lstStyle/>
          <a:p>
            <a:pPr marL="0" indent="0">
              <a:buNone/>
            </a:pPr>
            <a:r>
              <a:rPr lang="en-US" sz="1100" dirty="0">
                <a:solidFill>
                  <a:schemeClr val="bg2"/>
                </a:solidFill>
              </a:rPr>
              <a:t>PRD Genie</a:t>
            </a:r>
            <a:endParaRPr lang="en-US" sz="1100" dirty="0"/>
          </a:p>
        </p:txBody>
      </p:sp>
      <p:sp>
        <p:nvSpPr>
          <p:cNvPr id="3" name="Text 1"/>
          <p:cNvSpPr>
            <a:spLocks noGrp="1"/>
          </p:cNvSpPr>
          <p:nvPr>
            <p:ph type="body" idx="101" hasCustomPrompt="1"/>
          </p:nvPr>
        </p:nvSpPr>
        <p:spPr>
          <a:xfrm>
            <a:off x="640080" y="384048"/>
            <a:ext cx="8229600" cy="274320"/>
          </a:xfrm>
          <a:prstGeom prst="rect">
            <a:avLst/>
          </a:prstGeom>
          <a:noFill/>
          <a:ln/>
        </p:spPr>
        <p:txBody>
          <a:bodyPr wrap="square" rtlCol="0"/>
          <a:lstStyle>
            <a:lvl1pPr marL="0" indent="0">
              <a:buNone/>
              <a:defRPr lang="en-US" sz="1300" b="1" kern="0" spc="300" dirty="0">
                <a:solidFill>
                  <a:schemeClr val="bg2"/>
                </a:solidFill>
              </a:defRPr>
            </a:lvl1pPr>
          </a:lstStyle>
          <a:p>
            <a:pPr marL="0" indent="0">
              <a:buNone/>
            </a:pPr>
            <a:endParaRPr lang="en-US" sz="13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731520"/>
            <a:ext cx="9144000" cy="320040"/>
          </a:xfrm>
          <a:prstGeom prst="rect">
            <a:avLst/>
          </a:prstGeom>
          <a:noFill/>
          <a:ln/>
        </p:spPr>
        <p:txBody>
          <a:bodyPr wrap="square" lIns="0" tIns="0" rIns="0" bIns="0" rtlCol="0" anchor="t"/>
          <a:lstStyle/>
          <a:p>
            <a:pPr marL="0" indent="0">
              <a:buNone/>
            </a:pPr>
            <a:r>
              <a:rPr lang="en-US" sz="1400" b="1" kern="0" spc="300" dirty="0">
                <a:solidFill>
                  <a:schemeClr val="accent2"/>
                </a:solidFill>
              </a:rPr>
              <a:t>APPLIED AGENTIC AI FOR PMS/TPMS · CAPSTONE</a:t>
            </a:r>
            <a:endParaRPr lang="en-US" sz="1400" dirty="0"/>
          </a:p>
        </p:txBody>
      </p:sp>
      <p:sp>
        <p:nvSpPr>
          <p:cNvPr id="3" name="Text 0"/>
          <p:cNvSpPr>
            <a:spLocks noGrp="1"/>
          </p:cNvSpPr>
          <p:nvPr>
            <p:ph type="title" idx="101" hasCustomPrompt="1"/>
          </p:nvPr>
        </p:nvSpPr>
        <p:spPr>
          <a:xfrm>
            <a:off x="731520" y="2103120"/>
            <a:ext cx="7315200" cy="1280160"/>
          </a:xfrm>
          <a:prstGeom prst="rect">
            <a:avLst/>
          </a:prstGeom>
          <a:noFill/>
          <a:ln/>
        </p:spPr>
        <p:txBody>
          <a:bodyPr wrap="square" lIns="0" tIns="0" rIns="0" bIns="0" rtlCol="0" anchor="t"/>
          <a:lstStyle/>
          <a:p>
            <a:pPr marL="0" indent="0" algn="l">
              <a:buNone/>
            </a:pPr>
            <a:r>
              <a:rPr lang="en-US" sz="7200" b="1" dirty="0">
                <a:solidFill>
                  <a:schemeClr val="bg1"/>
                </a:solidFill>
              </a:rPr>
              <a:t>PRD Genie</a:t>
            </a:r>
            <a:endParaRPr lang="en-US" sz="7200" dirty="0"/>
          </a:p>
        </p:txBody>
      </p:sp>
      <p:sp>
        <p:nvSpPr>
          <p:cNvPr id="4" name="Text 0"/>
          <p:cNvSpPr>
            <a:spLocks noGrp="1"/>
          </p:cNvSpPr>
          <p:nvPr>
            <p:ph type="body" idx="102" hasCustomPrompt="1"/>
          </p:nvPr>
        </p:nvSpPr>
        <p:spPr>
          <a:xfrm>
            <a:off x="731520" y="3520440"/>
            <a:ext cx="6949440" cy="1280160"/>
          </a:xfrm>
          <a:prstGeom prst="rect">
            <a:avLst/>
          </a:prstGeom>
          <a:noFill/>
          <a:ln/>
        </p:spPr>
        <p:txBody>
          <a:bodyPr wrap="square" lIns="0" tIns="0" rIns="0" bIns="0" rtlCol="0" anchor="t"/>
          <a:lstStyle/>
          <a:p>
            <a:pPr marL="0" indent="0" algn="l">
              <a:buNone/>
            </a:pPr>
            <a:r>
              <a:rPr lang="en-US" sz="2400" dirty="0">
                <a:solidFill>
                  <a:schemeClr val="bg2"/>
                </a:solidFill>
              </a:rPr>
              <a:t>An AI documentation assistant that turns meeting transcripts into structured PRDs, epics, and user stories.</a:t>
            </a:r>
            <a:endParaRPr lang="en-US" sz="2400" dirty="0"/>
          </a:p>
        </p:txBody>
      </p:sp>
      <p:sp>
        <p:nvSpPr>
          <p:cNvPr id="5" name="Cover circle outer"/>
          <p:cNvSpPr/>
          <p:nvPr/>
        </p:nvSpPr>
        <p:spPr>
          <a:xfrm>
            <a:off x="8503920" y="1737360"/>
            <a:ext cx="2926080" cy="2926080"/>
          </a:xfrm>
          <a:prstGeom prst="ellipse">
            <a:avLst/>
          </a:prstGeom>
          <a:solidFill>
            <a:schemeClr val="tx2"/>
          </a:solidFill>
          <a:ln/>
        </p:spPr>
      </p:sp>
      <p:sp>
        <p:nvSpPr>
          <p:cNvPr id="6" name="Cover circle inner"/>
          <p:cNvSpPr/>
          <p:nvPr/>
        </p:nvSpPr>
        <p:spPr>
          <a:xfrm>
            <a:off x="9006840" y="2240280"/>
            <a:ext cx="1920240" cy="1920240"/>
          </a:xfrm>
          <a:prstGeom prst="ellipse">
            <a:avLst/>
          </a:prstGeom>
          <a:solidFill>
            <a:schemeClr val="accent1"/>
          </a:solidFill>
          <a:ln/>
        </p:spPr>
      </p:sp>
      <p:pic>
        <p:nvPicPr>
          <p:cNvPr id="7" name="Cover icon" descr="Document icon"/>
          <p:cNvPicPr>
            <a:picLocks noChangeAspect="1"/>
          </p:cNvPicPr>
          <p:nvPr/>
        </p:nvPicPr>
        <p:blipFill>
          <a:blip r:embed="rId3"/>
          <a:stretch>
            <a:fillRect/>
          </a:stretch>
        </p:blipFill>
        <p:spPr>
          <a:xfrm>
            <a:off x="9601200" y="2743200"/>
            <a:ext cx="731520" cy="914400"/>
          </a:xfrm>
          <a:prstGeom prst="rect">
            <a:avLst/>
          </a:prstGeom>
        </p:spPr>
      </p:pic>
      <p:sp>
        <p:nvSpPr>
          <p:cNvPr id="8" name="Author"/>
          <p:cNvSpPr txBox="1"/>
          <p:nvPr/>
        </p:nvSpPr>
        <p:spPr>
          <a:xfrm>
            <a:off x="731520" y="5989320"/>
            <a:ext cx="3657600" cy="365760"/>
          </a:xfrm>
          <a:prstGeom prst="rect">
            <a:avLst/>
          </a:prstGeom>
          <a:noFill/>
          <a:ln/>
        </p:spPr>
        <p:txBody>
          <a:bodyPr wrap="square" lIns="0" tIns="0" rIns="0" bIns="0" rtlCol="0" anchor="t"/>
          <a:lstStyle/>
          <a:p>
            <a:pPr marL="0" indent="0">
              <a:buNone/>
            </a:pPr>
            <a:r>
              <a:rPr lang="en-US" sz="1800" b="1" dirty="0">
                <a:solidFill>
                  <a:schemeClr val="bg1"/>
                </a:solidFill>
              </a:rPr>
              <a:t>Santhosh</a:t>
            </a:r>
            <a:endParaRPr lang="en-US" sz="1800" dirty="0"/>
          </a:p>
        </p:txBody>
      </p:sp>
      <p:sp>
        <p:nvSpPr>
          <p:cNvPr id="9" name="Stack"/>
          <p:cNvSpPr txBox="1"/>
          <p:nvPr/>
        </p:nvSpPr>
        <p:spPr>
          <a:xfrm>
            <a:off x="6675120" y="6035040"/>
            <a:ext cx="4754880" cy="320040"/>
          </a:xfrm>
          <a:prstGeom prst="rect">
            <a:avLst/>
          </a:prstGeom>
          <a:noFill/>
          <a:ln/>
        </p:spPr>
        <p:txBody>
          <a:bodyPr wrap="square" lIns="0" tIns="0" rIns="0" bIns="0" rtlCol="0" anchor="t"/>
          <a:lstStyle/>
          <a:p>
            <a:pPr marL="0" indent="0" algn="r">
              <a:buNone/>
            </a:pPr>
            <a:r>
              <a:rPr lang="en-US" sz="1400" dirty="0">
                <a:solidFill>
                  <a:schemeClr val="accent2"/>
                </a:solidFill>
              </a:rPr>
              <a:t>n8n · Gemini · Pinecone · Langfuse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THE PROBLEM</a:t>
            </a:r>
            <a:endParaRPr lang="en-US" sz="1300" dirty="0"/>
          </a:p>
        </p:txBody>
      </p:sp>
      <p:sp>
        <p:nvSpPr>
          <p:cNvPr id="3" name="Text 1"/>
          <p:cNvSpPr>
            <a:spLocks noGrp="1"/>
          </p:cNvSpPr>
          <p:nvPr>
            <p:ph type="title" idx="102" hasCustomPrompt="1"/>
          </p:nvPr>
        </p:nvSpPr>
        <p:spPr>
          <a:xfrm>
            <a:off x="640080" y="713232"/>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Meetings to requirements: slow and manual</a:t>
            </a:r>
            <a:endParaRPr lang="en-US" sz="3400" dirty="0"/>
          </a:p>
        </p:txBody>
      </p:sp>
      <p:sp>
        <p:nvSpPr>
          <p:cNvPr id="4" name="Problem card 1"/>
          <p:cNvSpPr/>
          <p:nvPr/>
        </p:nvSpPr>
        <p:spPr>
          <a:xfrm>
            <a:off x="640080" y="1783080"/>
            <a:ext cx="2537460" cy="3246120"/>
          </a:xfrm>
          <a:prstGeom prst="roundRect">
            <a:avLst>
              <a:gd name="adj" fmla="val 4324"/>
            </a:avLst>
          </a:prstGeom>
          <a:solidFill>
            <a:schemeClr val="bg1"/>
          </a:solidFill>
          <a:ln/>
          <a:effectLst>
            <a:outerShdw blurRad="127000" dist="25400" dir="5400000" algn="bl" rotWithShape="0">
              <a:srgbClr val="0F1E2E">
                <a:alpha val="14000"/>
              </a:srgbClr>
            </a:outerShdw>
          </a:effectLst>
        </p:spPr>
      </p:sp>
      <p:sp>
        <p:nvSpPr>
          <p:cNvPr id="5" name="Problem icon 1 circle"/>
          <p:cNvSpPr/>
          <p:nvPr/>
        </p:nvSpPr>
        <p:spPr>
          <a:xfrm>
            <a:off x="914400" y="2057400"/>
            <a:ext cx="640080" cy="640080"/>
          </a:xfrm>
          <a:prstGeom prst="ellipse">
            <a:avLst/>
          </a:prstGeom>
          <a:solidFill>
            <a:schemeClr val="accent1"/>
          </a:solidFill>
          <a:ln/>
        </p:spPr>
      </p:sp>
      <p:pic>
        <p:nvPicPr>
          <p:cNvPr id="6" name="Problem icon 1" descr="Problem icon 1"/>
          <p:cNvPicPr>
            <a:picLocks noChangeAspect="1"/>
          </p:cNvPicPr>
          <p:nvPr/>
        </p:nvPicPr>
        <p:blipFill>
          <a:blip r:embed="rId3"/>
          <a:stretch>
            <a:fillRect/>
          </a:stretch>
        </p:blipFill>
        <p:spPr>
          <a:xfrm>
            <a:off x="1087222" y="2230222"/>
            <a:ext cx="294437" cy="294437"/>
          </a:xfrm>
          <a:prstGeom prst="rect">
            <a:avLst/>
          </a:prstGeom>
        </p:spPr>
      </p:pic>
      <p:sp>
        <p:nvSpPr>
          <p:cNvPr id="7" name="Problem title 1"/>
          <p:cNvSpPr txBox="1"/>
          <p:nvPr/>
        </p:nvSpPr>
        <p:spPr>
          <a:xfrm>
            <a:off x="914400" y="2926080"/>
            <a:ext cx="2011680" cy="777240"/>
          </a:xfrm>
          <a:prstGeom prst="rect">
            <a:avLst/>
          </a:prstGeom>
          <a:noFill/>
          <a:ln/>
        </p:spPr>
        <p:txBody>
          <a:bodyPr wrap="square" lIns="0" tIns="0" rIns="0" bIns="0" rtlCol="0" anchor="t"/>
          <a:lstStyle/>
          <a:p>
            <a:pPr marL="0" indent="0">
              <a:buNone/>
            </a:pPr>
            <a:r>
              <a:rPr lang="en-US" sz="1900" b="1" dirty="0">
                <a:solidFill>
                  <a:schemeClr val="tx1"/>
                </a:solidFill>
              </a:rPr>
              <a:t>Scope lives in meetings</a:t>
            </a:r>
            <a:endParaRPr lang="en-US" sz="1900" dirty="0"/>
          </a:p>
        </p:txBody>
      </p:sp>
      <p:sp>
        <p:nvSpPr>
          <p:cNvPr id="8" name="Problem text 1"/>
          <p:cNvSpPr txBox="1"/>
          <p:nvPr/>
        </p:nvSpPr>
        <p:spPr>
          <a:xfrm>
            <a:off x="914400" y="3749040"/>
            <a:ext cx="2011680" cy="1097280"/>
          </a:xfrm>
          <a:prstGeom prst="rect">
            <a:avLst/>
          </a:prstGeom>
          <a:noFill/>
          <a:ln/>
        </p:spPr>
        <p:txBody>
          <a:bodyPr wrap="square" lIns="0" tIns="0" rIns="0" bIns="0" rtlCol="0" anchor="t"/>
          <a:lstStyle/>
          <a:p>
            <a:pPr marL="0" indent="0">
              <a:buNone/>
            </a:pPr>
            <a:r>
              <a:rPr lang="en-US" sz="1500" dirty="0">
                <a:solidFill>
                  <a:schemeClr val="accent4"/>
                </a:solidFill>
              </a:rPr>
              <a:t>PMs pull requirements out of transcripts by hand.</a:t>
            </a:r>
            <a:endParaRPr lang="en-US" sz="1500" dirty="0"/>
          </a:p>
        </p:txBody>
      </p:sp>
      <p:sp>
        <p:nvSpPr>
          <p:cNvPr id="9" name="Problem card 2"/>
          <p:cNvSpPr/>
          <p:nvPr/>
        </p:nvSpPr>
        <p:spPr>
          <a:xfrm>
            <a:off x="3451860" y="1783080"/>
            <a:ext cx="2537460" cy="3246120"/>
          </a:xfrm>
          <a:prstGeom prst="roundRect">
            <a:avLst>
              <a:gd name="adj" fmla="val 4324"/>
            </a:avLst>
          </a:prstGeom>
          <a:solidFill>
            <a:schemeClr val="bg1"/>
          </a:solidFill>
          <a:ln/>
          <a:effectLst>
            <a:outerShdw blurRad="127000" dist="25400" dir="5400000" algn="bl" rotWithShape="0">
              <a:srgbClr val="0F1E2E">
                <a:alpha val="14000"/>
              </a:srgbClr>
            </a:outerShdw>
          </a:effectLst>
        </p:spPr>
      </p:sp>
      <p:sp>
        <p:nvSpPr>
          <p:cNvPr id="10" name="Problem icon 2 circle"/>
          <p:cNvSpPr/>
          <p:nvPr/>
        </p:nvSpPr>
        <p:spPr>
          <a:xfrm>
            <a:off x="3726180" y="2057400"/>
            <a:ext cx="640080" cy="640080"/>
          </a:xfrm>
          <a:prstGeom prst="ellipse">
            <a:avLst/>
          </a:prstGeom>
          <a:solidFill>
            <a:schemeClr val="accent1"/>
          </a:solidFill>
          <a:ln/>
        </p:spPr>
      </p:sp>
      <p:pic>
        <p:nvPicPr>
          <p:cNvPr id="11" name="Problem icon 2" descr="Problem icon 2"/>
          <p:cNvPicPr>
            <a:picLocks noChangeAspect="1"/>
          </p:cNvPicPr>
          <p:nvPr/>
        </p:nvPicPr>
        <p:blipFill>
          <a:blip r:embed="rId4"/>
          <a:stretch>
            <a:fillRect/>
          </a:stretch>
        </p:blipFill>
        <p:spPr>
          <a:xfrm>
            <a:off x="3899002" y="2230222"/>
            <a:ext cx="294437" cy="294437"/>
          </a:xfrm>
          <a:prstGeom prst="rect">
            <a:avLst/>
          </a:prstGeom>
        </p:spPr>
      </p:pic>
      <p:sp>
        <p:nvSpPr>
          <p:cNvPr id="12" name="Problem title 2"/>
          <p:cNvSpPr txBox="1"/>
          <p:nvPr/>
        </p:nvSpPr>
        <p:spPr>
          <a:xfrm>
            <a:off x="3726180" y="2926080"/>
            <a:ext cx="2011680" cy="777240"/>
          </a:xfrm>
          <a:prstGeom prst="rect">
            <a:avLst/>
          </a:prstGeom>
          <a:noFill/>
          <a:ln/>
        </p:spPr>
        <p:txBody>
          <a:bodyPr wrap="square" lIns="0" tIns="0" rIns="0" bIns="0" rtlCol="0" anchor="t"/>
          <a:lstStyle/>
          <a:p>
            <a:pPr marL="0" indent="0">
              <a:buNone/>
            </a:pPr>
            <a:r>
              <a:rPr lang="en-US" sz="1900" b="1" dirty="0">
                <a:solidFill>
                  <a:schemeClr val="tx1"/>
                </a:solidFill>
              </a:rPr>
              <a:t>PRDs are written by hand</a:t>
            </a:r>
            <a:endParaRPr lang="en-US" sz="1900" dirty="0"/>
          </a:p>
        </p:txBody>
      </p:sp>
      <p:sp>
        <p:nvSpPr>
          <p:cNvPr id="13" name="Problem text 2"/>
          <p:cNvSpPr txBox="1"/>
          <p:nvPr/>
        </p:nvSpPr>
        <p:spPr>
          <a:xfrm>
            <a:off x="3726180" y="3749040"/>
            <a:ext cx="2011680" cy="1097280"/>
          </a:xfrm>
          <a:prstGeom prst="rect">
            <a:avLst/>
          </a:prstGeom>
          <a:noFill/>
          <a:ln/>
        </p:spPr>
        <p:txBody>
          <a:bodyPr wrap="square" lIns="0" tIns="0" rIns="0" bIns="0" rtlCol="0" anchor="t"/>
          <a:lstStyle/>
          <a:p>
            <a:pPr marL="0" indent="0">
              <a:buNone/>
            </a:pPr>
            <a:r>
              <a:rPr lang="en-US" sz="1500" dirty="0">
                <a:solidFill>
                  <a:schemeClr val="accent4"/>
                </a:solidFill>
              </a:rPr>
              <a:t>Turning discussion into PRDs, epics, and stories is manual and iterative.</a:t>
            </a:r>
            <a:endParaRPr lang="en-US" sz="1500" dirty="0"/>
          </a:p>
        </p:txBody>
      </p:sp>
      <p:sp>
        <p:nvSpPr>
          <p:cNvPr id="14" name="Problem card 3"/>
          <p:cNvSpPr/>
          <p:nvPr/>
        </p:nvSpPr>
        <p:spPr>
          <a:xfrm>
            <a:off x="6263640" y="1783080"/>
            <a:ext cx="2537460" cy="3246120"/>
          </a:xfrm>
          <a:prstGeom prst="roundRect">
            <a:avLst>
              <a:gd name="adj" fmla="val 4324"/>
            </a:avLst>
          </a:prstGeom>
          <a:solidFill>
            <a:schemeClr val="bg1"/>
          </a:solidFill>
          <a:ln/>
          <a:effectLst>
            <a:outerShdw blurRad="127000" dist="25400" dir="5400000" algn="bl" rotWithShape="0">
              <a:srgbClr val="0F1E2E">
                <a:alpha val="14000"/>
              </a:srgbClr>
            </a:outerShdw>
          </a:effectLst>
        </p:spPr>
      </p:sp>
      <p:sp>
        <p:nvSpPr>
          <p:cNvPr id="15" name="Problem icon 3 circle"/>
          <p:cNvSpPr/>
          <p:nvPr/>
        </p:nvSpPr>
        <p:spPr>
          <a:xfrm>
            <a:off x="6537960" y="2057400"/>
            <a:ext cx="640080" cy="640080"/>
          </a:xfrm>
          <a:prstGeom prst="ellipse">
            <a:avLst/>
          </a:prstGeom>
          <a:solidFill>
            <a:schemeClr val="accent1"/>
          </a:solidFill>
          <a:ln/>
        </p:spPr>
      </p:sp>
      <p:pic>
        <p:nvPicPr>
          <p:cNvPr id="16" name="Problem icon 3" descr="Problem icon 3"/>
          <p:cNvPicPr>
            <a:picLocks noChangeAspect="1"/>
          </p:cNvPicPr>
          <p:nvPr/>
        </p:nvPicPr>
        <p:blipFill>
          <a:blip r:embed="rId5"/>
          <a:stretch>
            <a:fillRect/>
          </a:stretch>
        </p:blipFill>
        <p:spPr>
          <a:xfrm>
            <a:off x="6710782" y="2230222"/>
            <a:ext cx="294437" cy="294437"/>
          </a:xfrm>
          <a:prstGeom prst="rect">
            <a:avLst/>
          </a:prstGeom>
        </p:spPr>
      </p:pic>
      <p:sp>
        <p:nvSpPr>
          <p:cNvPr id="17" name="Problem title 3"/>
          <p:cNvSpPr txBox="1"/>
          <p:nvPr/>
        </p:nvSpPr>
        <p:spPr>
          <a:xfrm>
            <a:off x="6537960" y="2926080"/>
            <a:ext cx="2011680" cy="777240"/>
          </a:xfrm>
          <a:prstGeom prst="rect">
            <a:avLst/>
          </a:prstGeom>
          <a:noFill/>
          <a:ln/>
        </p:spPr>
        <p:txBody>
          <a:bodyPr wrap="square" lIns="0" tIns="0" rIns="0" bIns="0" rtlCol="0" anchor="t"/>
          <a:lstStyle/>
          <a:p>
            <a:pPr marL="0" indent="0">
              <a:buNone/>
            </a:pPr>
            <a:r>
              <a:rPr lang="en-US" sz="1900" b="1" dirty="0">
                <a:solidFill>
                  <a:schemeClr val="tx1"/>
                </a:solidFill>
              </a:rPr>
              <a:t>Every PM uses a different format</a:t>
            </a:r>
            <a:endParaRPr lang="en-US" sz="1900" dirty="0"/>
          </a:p>
        </p:txBody>
      </p:sp>
      <p:sp>
        <p:nvSpPr>
          <p:cNvPr id="18" name="Problem text 3"/>
          <p:cNvSpPr txBox="1"/>
          <p:nvPr/>
        </p:nvSpPr>
        <p:spPr>
          <a:xfrm>
            <a:off x="6537960" y="3749040"/>
            <a:ext cx="2011680" cy="1097280"/>
          </a:xfrm>
          <a:prstGeom prst="rect">
            <a:avLst/>
          </a:prstGeom>
          <a:noFill/>
          <a:ln/>
        </p:spPr>
        <p:txBody>
          <a:bodyPr wrap="square" lIns="0" tIns="0" rIns="0" bIns="0" rtlCol="0" anchor="t"/>
          <a:lstStyle/>
          <a:p>
            <a:pPr marL="0" indent="0">
              <a:buNone/>
            </a:pPr>
            <a:r>
              <a:rPr lang="en-US" sz="1500" dirty="0">
                <a:solidFill>
                  <a:schemeClr val="accent4"/>
                </a:solidFill>
              </a:rPr>
              <a:t>Engineering cannot estimate from PRDs that all look different.</a:t>
            </a:r>
            <a:endParaRPr lang="en-US" sz="1500" dirty="0"/>
          </a:p>
        </p:txBody>
      </p:sp>
      <p:sp>
        <p:nvSpPr>
          <p:cNvPr id="19" name="Problem card 4"/>
          <p:cNvSpPr/>
          <p:nvPr/>
        </p:nvSpPr>
        <p:spPr>
          <a:xfrm>
            <a:off x="9075420" y="1783080"/>
            <a:ext cx="2537460" cy="3246120"/>
          </a:xfrm>
          <a:prstGeom prst="roundRect">
            <a:avLst>
              <a:gd name="adj" fmla="val 4324"/>
            </a:avLst>
          </a:prstGeom>
          <a:solidFill>
            <a:schemeClr val="bg1"/>
          </a:solidFill>
          <a:ln/>
          <a:effectLst>
            <a:outerShdw blurRad="127000" dist="25400" dir="5400000" algn="bl" rotWithShape="0">
              <a:srgbClr val="0F1E2E">
                <a:alpha val="14000"/>
              </a:srgbClr>
            </a:outerShdw>
          </a:effectLst>
        </p:spPr>
      </p:sp>
      <p:sp>
        <p:nvSpPr>
          <p:cNvPr id="20" name="Problem icon 4 circle"/>
          <p:cNvSpPr/>
          <p:nvPr/>
        </p:nvSpPr>
        <p:spPr>
          <a:xfrm>
            <a:off x="9349740" y="2057400"/>
            <a:ext cx="640080" cy="640080"/>
          </a:xfrm>
          <a:prstGeom prst="ellipse">
            <a:avLst/>
          </a:prstGeom>
          <a:solidFill>
            <a:schemeClr val="accent1"/>
          </a:solidFill>
          <a:ln/>
        </p:spPr>
      </p:sp>
      <p:pic>
        <p:nvPicPr>
          <p:cNvPr id="21" name="Problem icon 4" descr="Problem icon 4"/>
          <p:cNvPicPr>
            <a:picLocks noChangeAspect="1"/>
          </p:cNvPicPr>
          <p:nvPr/>
        </p:nvPicPr>
        <p:blipFill>
          <a:blip r:embed="rId6"/>
          <a:stretch>
            <a:fillRect/>
          </a:stretch>
        </p:blipFill>
        <p:spPr>
          <a:xfrm>
            <a:off x="9522562" y="2230222"/>
            <a:ext cx="294437" cy="294437"/>
          </a:xfrm>
          <a:prstGeom prst="rect">
            <a:avLst/>
          </a:prstGeom>
        </p:spPr>
      </p:pic>
      <p:sp>
        <p:nvSpPr>
          <p:cNvPr id="22" name="Problem title 4"/>
          <p:cNvSpPr txBox="1"/>
          <p:nvPr/>
        </p:nvSpPr>
        <p:spPr>
          <a:xfrm>
            <a:off x="9349740" y="2926080"/>
            <a:ext cx="2011680" cy="777240"/>
          </a:xfrm>
          <a:prstGeom prst="rect">
            <a:avLst/>
          </a:prstGeom>
          <a:noFill/>
          <a:ln/>
        </p:spPr>
        <p:txBody>
          <a:bodyPr wrap="square" lIns="0" tIns="0" rIns="0" bIns="0" rtlCol="0" anchor="t"/>
          <a:lstStyle/>
          <a:p>
            <a:pPr marL="0" indent="0">
              <a:buNone/>
            </a:pPr>
            <a:r>
              <a:rPr lang="en-US" sz="1900" b="1" dirty="0">
                <a:solidFill>
                  <a:schemeClr val="tx1"/>
                </a:solidFill>
              </a:rPr>
              <a:t>Notes nobody revisits</a:t>
            </a:r>
            <a:endParaRPr lang="en-US" sz="1900" dirty="0"/>
          </a:p>
        </p:txBody>
      </p:sp>
      <p:sp>
        <p:nvSpPr>
          <p:cNvPr id="23" name="Problem text 4"/>
          <p:cNvSpPr txBox="1"/>
          <p:nvPr/>
        </p:nvSpPr>
        <p:spPr>
          <a:xfrm>
            <a:off x="9349740" y="3749040"/>
            <a:ext cx="2011680" cy="1097280"/>
          </a:xfrm>
          <a:prstGeom prst="rect">
            <a:avLst/>
          </a:prstGeom>
          <a:noFill/>
          <a:ln/>
        </p:spPr>
        <p:txBody>
          <a:bodyPr wrap="square" lIns="0" tIns="0" rIns="0" bIns="0" rtlCol="0" anchor="t"/>
          <a:lstStyle/>
          <a:p>
            <a:pPr marL="0" indent="0">
              <a:buNone/>
            </a:pPr>
            <a:r>
              <a:rPr lang="en-US" sz="1500" dirty="0">
                <a:solidFill>
                  <a:schemeClr val="accent4"/>
                </a:solidFill>
              </a:rPr>
              <a:t>Requirements discussed once get lost in shared documents.</a:t>
            </a:r>
            <a:endParaRPr lang="en-US" sz="1500" dirty="0"/>
          </a:p>
        </p:txBody>
      </p:sp>
      <p:sp>
        <p:nvSpPr>
          <p:cNvPr id="24" name="Problem result"/>
          <p:cNvSpPr txBox="1"/>
          <p:nvPr/>
        </p:nvSpPr>
        <p:spPr>
          <a:xfrm>
            <a:off x="640080" y="5440680"/>
            <a:ext cx="10881360" cy="457200"/>
          </a:xfrm>
          <a:prstGeom prst="rect">
            <a:avLst/>
          </a:prstGeom>
          <a:noFill/>
          <a:ln/>
        </p:spPr>
        <p:txBody>
          <a:bodyPr wrap="square" lIns="0" tIns="0" rIns="0" bIns="0" rtlCol="0" anchor="t"/>
          <a:lstStyle/>
          <a:p>
            <a:pPr marL="0" indent="0">
              <a:buNone/>
            </a:pPr>
            <a:r>
              <a:rPr lang="en-US" sz="2000" b="1" dirty="0">
                <a:solidFill>
                  <a:schemeClr val="tx1"/>
                </a:solidFill>
              </a:rPr>
              <a:t>The result: delays, inconsistent tracking, and slower time to market.</a:t>
            </a:r>
            <a:endParaRPr lang="en-US" sz="20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THE IDEA</a:t>
            </a:r>
            <a:endParaRPr lang="en-US" sz="1300" dirty="0"/>
          </a:p>
        </p:txBody>
      </p:sp>
      <p:sp>
        <p:nvSpPr>
          <p:cNvPr id="3" name="Text 1"/>
          <p:cNvSpPr>
            <a:spLocks noGrp="1"/>
          </p:cNvSpPr>
          <p:nvPr>
            <p:ph type="title" idx="102" hasCustomPrompt="1"/>
          </p:nvPr>
        </p:nvSpPr>
        <p:spPr>
          <a:xfrm>
            <a:off x="640080" y="713232"/>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From raw notes to engineering-ready work</a:t>
            </a:r>
            <a:endParaRPr lang="en-US" sz="3400" dirty="0"/>
          </a:p>
        </p:txBody>
      </p:sp>
      <p:sp>
        <p:nvSpPr>
          <p:cNvPr id="4" name="Input card"/>
          <p:cNvSpPr/>
          <p:nvPr/>
        </p:nvSpPr>
        <p:spPr>
          <a:xfrm>
            <a:off x="640080" y="1874520"/>
            <a:ext cx="2926080" cy="3474720"/>
          </a:xfrm>
          <a:prstGeom prst="roundRect">
            <a:avLst>
              <a:gd name="adj" fmla="val 3750"/>
            </a:avLst>
          </a:prstGeom>
          <a:solidFill>
            <a:schemeClr val="bg1"/>
          </a:solidFill>
          <a:ln/>
          <a:effectLst>
            <a:outerShdw blurRad="127000" dist="25400" dir="5400000" algn="bl" rotWithShape="0">
              <a:srgbClr val="0F1E2E">
                <a:alpha val="14000"/>
              </a:srgbClr>
            </a:outerShdw>
          </a:effectLst>
        </p:spPr>
      </p:sp>
      <p:sp>
        <p:nvSpPr>
          <p:cNvPr id="5" name="Input title"/>
          <p:cNvSpPr txBox="1"/>
          <p:nvPr/>
        </p:nvSpPr>
        <p:spPr>
          <a:xfrm>
            <a:off x="914400" y="2194560"/>
            <a:ext cx="2377440" cy="457200"/>
          </a:xfrm>
          <a:prstGeom prst="rect">
            <a:avLst/>
          </a:prstGeom>
          <a:noFill/>
          <a:ln/>
        </p:spPr>
        <p:txBody>
          <a:bodyPr wrap="square" lIns="0" tIns="0" rIns="0" bIns="0" rtlCol="0" anchor="t"/>
          <a:lstStyle/>
          <a:p>
            <a:pPr marL="0" indent="0">
              <a:buNone/>
            </a:pPr>
            <a:r>
              <a:rPr lang="en-US" sz="2200" b="1" dirty="0">
                <a:solidFill>
                  <a:schemeClr val="tx1"/>
                </a:solidFill>
              </a:rPr>
              <a:t>Meeting input</a:t>
            </a:r>
            <a:endParaRPr lang="en-US" sz="2200" dirty="0"/>
          </a:p>
        </p:txBody>
      </p:sp>
      <p:sp>
        <p:nvSpPr>
          <p:cNvPr id="6" name="Input text"/>
          <p:cNvSpPr txBox="1"/>
          <p:nvPr/>
        </p:nvSpPr>
        <p:spPr>
          <a:xfrm>
            <a:off x="914400" y="2788920"/>
            <a:ext cx="2377440" cy="2194560"/>
          </a:xfrm>
          <a:prstGeom prst="rect">
            <a:avLst/>
          </a:prstGeom>
          <a:noFill/>
          <a:ln/>
        </p:spPr>
        <p:txBody>
          <a:bodyPr wrap="square" lIns="0" tIns="0" rIns="0" bIns="0" rtlCol="0" anchor="t"/>
          <a:lstStyle/>
          <a:p>
            <a:pPr marL="0" indent="0">
              <a:buNone/>
            </a:pPr>
            <a:r>
              <a:rPr lang="en-US" sz="1600" dirty="0">
                <a:solidFill>
                  <a:schemeClr val="accent4"/>
                </a:solidFill>
              </a:rPr>
              <a:t>Transcripts, briefs, or stakeholder notes, from a form or a Google Drive folder.</a:t>
            </a:r>
            <a:endParaRPr lang="en-US" sz="1600" dirty="0"/>
          </a:p>
        </p:txBody>
      </p:sp>
      <p:sp>
        <p:nvSpPr>
          <p:cNvPr id="7" name="Arrow"/>
          <p:cNvSpPr/>
          <p:nvPr/>
        </p:nvSpPr>
        <p:spPr>
          <a:xfrm>
            <a:off x="3703320" y="3383280"/>
            <a:ext cx="502920" cy="457200"/>
          </a:xfrm>
          <a:prstGeom prst="rightArrow">
            <a:avLst/>
          </a:prstGeom>
          <a:solidFill>
            <a:schemeClr val="accent1"/>
          </a:solidFill>
          <a:ln/>
        </p:spPr>
      </p:sp>
      <p:sp>
        <p:nvSpPr>
          <p:cNvPr id="8" name="Genie card"/>
          <p:cNvSpPr/>
          <p:nvPr/>
        </p:nvSpPr>
        <p:spPr>
          <a:xfrm>
            <a:off x="4343400" y="1874520"/>
            <a:ext cx="2926080" cy="3474720"/>
          </a:xfrm>
          <a:prstGeom prst="roundRect">
            <a:avLst>
              <a:gd name="adj" fmla="val 3750"/>
            </a:avLst>
          </a:prstGeom>
          <a:solidFill>
            <a:schemeClr val="accent1"/>
          </a:solidFill>
          <a:ln/>
          <a:effectLst>
            <a:outerShdw blurRad="127000" dist="25400" dir="5400000" algn="bl" rotWithShape="0">
              <a:srgbClr val="0F1E2E">
                <a:alpha val="14000"/>
              </a:srgbClr>
            </a:outerShdw>
          </a:effectLst>
        </p:spPr>
      </p:sp>
      <p:sp>
        <p:nvSpPr>
          <p:cNvPr id="9" name="Genie title"/>
          <p:cNvSpPr txBox="1"/>
          <p:nvPr/>
        </p:nvSpPr>
        <p:spPr>
          <a:xfrm>
            <a:off x="4617720" y="2194560"/>
            <a:ext cx="2377440" cy="457200"/>
          </a:xfrm>
          <a:prstGeom prst="rect">
            <a:avLst/>
          </a:prstGeom>
          <a:noFill/>
          <a:ln/>
        </p:spPr>
        <p:txBody>
          <a:bodyPr wrap="square" lIns="0" tIns="0" rIns="0" bIns="0" rtlCol="0" anchor="t"/>
          <a:lstStyle/>
          <a:p>
            <a:pPr marL="0" indent="0">
              <a:buNone/>
            </a:pPr>
            <a:r>
              <a:rPr lang="en-US" sz="2200" b="1" dirty="0">
                <a:solidFill>
                  <a:schemeClr val="bg1"/>
                </a:solidFill>
              </a:rPr>
              <a:t>PRD Genie</a:t>
            </a:r>
            <a:endParaRPr lang="en-US" sz="2200" dirty="0"/>
          </a:p>
        </p:txBody>
      </p:sp>
      <p:sp>
        <p:nvSpPr>
          <p:cNvPr id="10" name="Genie text"/>
          <p:cNvSpPr txBox="1"/>
          <p:nvPr/>
        </p:nvSpPr>
        <p:spPr>
          <a:xfrm>
            <a:off x="4617720" y="2788920"/>
            <a:ext cx="2377440" cy="2194560"/>
          </a:xfrm>
          <a:prstGeom prst="rect">
            <a:avLst/>
          </a:prstGeom>
          <a:noFill/>
          <a:ln/>
        </p:spPr>
        <p:txBody>
          <a:bodyPr wrap="square" lIns="0" tIns="0" rIns="0" bIns="0" rtlCol="0" anchor="t"/>
          <a:lstStyle/>
          <a:p>
            <a:pPr marL="0" indent="0">
              <a:buNone/>
            </a:pPr>
            <a:r>
              <a:rPr lang="en-US" sz="1600" dirty="0">
                <a:solidFill>
                  <a:schemeClr val="bg1"/>
                </a:solidFill>
              </a:rPr>
              <a:t>Five agents in a fixed pipeline, grounded in the source text.</a:t>
            </a:r>
            <a:endParaRPr lang="en-US" sz="1600" dirty="0"/>
          </a:p>
        </p:txBody>
      </p:sp>
      <p:sp>
        <p:nvSpPr>
          <p:cNvPr id="11" name="Arrow"/>
          <p:cNvSpPr/>
          <p:nvPr/>
        </p:nvSpPr>
        <p:spPr>
          <a:xfrm>
            <a:off x="7406640" y="3383280"/>
            <a:ext cx="502920" cy="457200"/>
          </a:xfrm>
          <a:prstGeom prst="rightArrow">
            <a:avLst/>
          </a:prstGeom>
          <a:solidFill>
            <a:schemeClr val="accent1"/>
          </a:solidFill>
          <a:ln/>
        </p:spPr>
      </p:sp>
      <p:sp>
        <p:nvSpPr>
          <p:cNvPr id="12" name="Output chip 1"/>
          <p:cNvSpPr/>
          <p:nvPr/>
        </p:nvSpPr>
        <p:spPr>
          <a:xfrm>
            <a:off x="8046720" y="1874520"/>
            <a:ext cx="3520440" cy="731520"/>
          </a:xfrm>
          <a:prstGeom prst="roundRect">
            <a:avLst>
              <a:gd name="adj" fmla="val 15000"/>
            </a:avLst>
          </a:prstGeom>
          <a:solidFill>
            <a:schemeClr val="bg1"/>
          </a:solidFill>
          <a:ln/>
          <a:effectLst>
            <a:outerShdw blurRad="127000" dist="25400" dir="5400000" algn="bl" rotWithShape="0">
              <a:srgbClr val="0F1E2E">
                <a:alpha val="14000"/>
              </a:srgbClr>
            </a:outerShdw>
          </a:effectLst>
        </p:spPr>
      </p:sp>
      <p:sp>
        <p:nvSpPr>
          <p:cNvPr id="13" name="Chip dot 1"/>
          <p:cNvSpPr/>
          <p:nvPr/>
        </p:nvSpPr>
        <p:spPr>
          <a:xfrm>
            <a:off x="8275320" y="2112264"/>
            <a:ext cx="256032" cy="256032"/>
          </a:xfrm>
          <a:prstGeom prst="ellipse">
            <a:avLst/>
          </a:prstGeom>
          <a:solidFill>
            <a:schemeClr val="accent2"/>
          </a:solidFill>
          <a:ln/>
        </p:spPr>
      </p:sp>
      <p:sp>
        <p:nvSpPr>
          <p:cNvPr id="14" name="Output text 1"/>
          <p:cNvSpPr txBox="1"/>
          <p:nvPr/>
        </p:nvSpPr>
        <p:spPr>
          <a:xfrm>
            <a:off x="8686800" y="1965960"/>
            <a:ext cx="2788920" cy="548640"/>
          </a:xfrm>
          <a:prstGeom prst="rect">
            <a:avLst/>
          </a:prstGeom>
          <a:noFill/>
          <a:ln/>
        </p:spPr>
        <p:txBody>
          <a:bodyPr wrap="square" lIns="0" tIns="0" rIns="0" bIns="0" rtlCol="0" anchor="ctr"/>
          <a:lstStyle/>
          <a:p>
            <a:pPr marL="0" indent="0">
              <a:buNone/>
            </a:pPr>
            <a:r>
              <a:rPr lang="en-US" sz="1600" b="1" dirty="0">
                <a:solidFill>
                  <a:schemeClr val="tx1"/>
                </a:solidFill>
              </a:rPr>
              <a:t>A structured PRD</a:t>
            </a:r>
            <a:endParaRPr lang="en-US" sz="1600" dirty="0"/>
          </a:p>
        </p:txBody>
      </p:sp>
      <p:sp>
        <p:nvSpPr>
          <p:cNvPr id="15" name="Output chip 2"/>
          <p:cNvSpPr/>
          <p:nvPr/>
        </p:nvSpPr>
        <p:spPr>
          <a:xfrm>
            <a:off x="8046720" y="2788920"/>
            <a:ext cx="3520440" cy="731520"/>
          </a:xfrm>
          <a:prstGeom prst="roundRect">
            <a:avLst>
              <a:gd name="adj" fmla="val 15000"/>
            </a:avLst>
          </a:prstGeom>
          <a:solidFill>
            <a:schemeClr val="bg1"/>
          </a:solidFill>
          <a:ln/>
          <a:effectLst>
            <a:outerShdw blurRad="127000" dist="25400" dir="5400000" algn="bl" rotWithShape="0">
              <a:srgbClr val="0F1E2E">
                <a:alpha val="14000"/>
              </a:srgbClr>
            </a:outerShdw>
          </a:effectLst>
        </p:spPr>
      </p:sp>
      <p:sp>
        <p:nvSpPr>
          <p:cNvPr id="16" name="Chip dot 2"/>
          <p:cNvSpPr/>
          <p:nvPr/>
        </p:nvSpPr>
        <p:spPr>
          <a:xfrm>
            <a:off x="8275320" y="3026664"/>
            <a:ext cx="256032" cy="256032"/>
          </a:xfrm>
          <a:prstGeom prst="ellipse">
            <a:avLst/>
          </a:prstGeom>
          <a:solidFill>
            <a:schemeClr val="accent2"/>
          </a:solidFill>
          <a:ln/>
        </p:spPr>
      </p:sp>
      <p:sp>
        <p:nvSpPr>
          <p:cNvPr id="17" name="Output text 2"/>
          <p:cNvSpPr txBox="1"/>
          <p:nvPr/>
        </p:nvSpPr>
        <p:spPr>
          <a:xfrm>
            <a:off x="8686800" y="2880360"/>
            <a:ext cx="2788920" cy="548640"/>
          </a:xfrm>
          <a:prstGeom prst="rect">
            <a:avLst/>
          </a:prstGeom>
          <a:noFill/>
          <a:ln/>
        </p:spPr>
        <p:txBody>
          <a:bodyPr wrap="square" lIns="0" tIns="0" rIns="0" bIns="0" rtlCol="0" anchor="ctr"/>
          <a:lstStyle/>
          <a:p>
            <a:pPr marL="0" indent="0">
              <a:buNone/>
            </a:pPr>
            <a:r>
              <a:rPr lang="en-US" sz="1600" b="1" dirty="0">
                <a:solidFill>
                  <a:schemeClr val="tx1"/>
                </a:solidFill>
              </a:rPr>
              <a:t>Epics, features, and user stories</a:t>
            </a:r>
            <a:endParaRPr lang="en-US" sz="1600" dirty="0"/>
          </a:p>
        </p:txBody>
      </p:sp>
      <p:sp>
        <p:nvSpPr>
          <p:cNvPr id="18" name="Output chip 3"/>
          <p:cNvSpPr/>
          <p:nvPr/>
        </p:nvSpPr>
        <p:spPr>
          <a:xfrm>
            <a:off x="8046720" y="3703320"/>
            <a:ext cx="3520440" cy="731520"/>
          </a:xfrm>
          <a:prstGeom prst="roundRect">
            <a:avLst>
              <a:gd name="adj" fmla="val 15000"/>
            </a:avLst>
          </a:prstGeom>
          <a:solidFill>
            <a:schemeClr val="bg1"/>
          </a:solidFill>
          <a:ln/>
          <a:effectLst>
            <a:outerShdw blurRad="127000" dist="25400" dir="5400000" algn="bl" rotWithShape="0">
              <a:srgbClr val="0F1E2E">
                <a:alpha val="14000"/>
              </a:srgbClr>
            </a:outerShdw>
          </a:effectLst>
        </p:spPr>
      </p:sp>
      <p:sp>
        <p:nvSpPr>
          <p:cNvPr id="19" name="Chip dot 3"/>
          <p:cNvSpPr/>
          <p:nvPr/>
        </p:nvSpPr>
        <p:spPr>
          <a:xfrm>
            <a:off x="8275320" y="3941064"/>
            <a:ext cx="256032" cy="256032"/>
          </a:xfrm>
          <a:prstGeom prst="ellipse">
            <a:avLst/>
          </a:prstGeom>
          <a:solidFill>
            <a:schemeClr val="accent2"/>
          </a:solidFill>
          <a:ln/>
        </p:spPr>
      </p:sp>
      <p:sp>
        <p:nvSpPr>
          <p:cNvPr id="20" name="Output text 3"/>
          <p:cNvSpPr txBox="1"/>
          <p:nvPr/>
        </p:nvSpPr>
        <p:spPr>
          <a:xfrm>
            <a:off x="8686800" y="3794760"/>
            <a:ext cx="2788920" cy="548640"/>
          </a:xfrm>
          <a:prstGeom prst="rect">
            <a:avLst/>
          </a:prstGeom>
          <a:noFill/>
          <a:ln/>
        </p:spPr>
        <p:txBody>
          <a:bodyPr wrap="square" lIns="0" tIns="0" rIns="0" bIns="0" rtlCol="0" anchor="ctr"/>
          <a:lstStyle/>
          <a:p>
            <a:pPr marL="0" indent="0">
              <a:buNone/>
            </a:pPr>
            <a:r>
              <a:rPr lang="en-US" sz="1600" b="1" dirty="0">
                <a:solidFill>
                  <a:schemeClr val="tx1"/>
                </a:solidFill>
              </a:rPr>
              <a:t>Clarification questions for stakeholders</a:t>
            </a:r>
            <a:endParaRPr lang="en-US" sz="1600" dirty="0"/>
          </a:p>
        </p:txBody>
      </p:sp>
      <p:sp>
        <p:nvSpPr>
          <p:cNvPr id="21" name="Output chip 4"/>
          <p:cNvSpPr/>
          <p:nvPr/>
        </p:nvSpPr>
        <p:spPr>
          <a:xfrm>
            <a:off x="8046720" y="4617720"/>
            <a:ext cx="3520440" cy="731520"/>
          </a:xfrm>
          <a:prstGeom prst="roundRect">
            <a:avLst>
              <a:gd name="adj" fmla="val 15000"/>
            </a:avLst>
          </a:prstGeom>
          <a:solidFill>
            <a:schemeClr val="bg1"/>
          </a:solidFill>
          <a:ln/>
          <a:effectLst>
            <a:outerShdw blurRad="127000" dist="25400" dir="5400000" algn="bl" rotWithShape="0">
              <a:srgbClr val="0F1E2E">
                <a:alpha val="14000"/>
              </a:srgbClr>
            </a:outerShdw>
          </a:effectLst>
        </p:spPr>
      </p:sp>
      <p:sp>
        <p:nvSpPr>
          <p:cNvPr id="22" name="Chip dot 4"/>
          <p:cNvSpPr/>
          <p:nvPr/>
        </p:nvSpPr>
        <p:spPr>
          <a:xfrm>
            <a:off x="8275320" y="4855464"/>
            <a:ext cx="256032" cy="256032"/>
          </a:xfrm>
          <a:prstGeom prst="ellipse">
            <a:avLst/>
          </a:prstGeom>
          <a:solidFill>
            <a:schemeClr val="accent2"/>
          </a:solidFill>
          <a:ln/>
        </p:spPr>
      </p:sp>
      <p:sp>
        <p:nvSpPr>
          <p:cNvPr id="23" name="Output text 4"/>
          <p:cNvSpPr txBox="1"/>
          <p:nvPr/>
        </p:nvSpPr>
        <p:spPr>
          <a:xfrm>
            <a:off x="8686800" y="4709160"/>
            <a:ext cx="2788920" cy="548640"/>
          </a:xfrm>
          <a:prstGeom prst="rect">
            <a:avLst/>
          </a:prstGeom>
          <a:noFill/>
          <a:ln/>
        </p:spPr>
        <p:txBody>
          <a:bodyPr wrap="square" lIns="0" tIns="0" rIns="0" bIns="0" rtlCol="0" anchor="ctr"/>
          <a:lstStyle/>
          <a:p>
            <a:pPr marL="0" indent="0">
              <a:buNone/>
            </a:pPr>
            <a:r>
              <a:rPr lang="en-US" sz="1600" b="1" dirty="0">
                <a:solidFill>
                  <a:schemeClr val="tx1"/>
                </a:solidFill>
              </a:rPr>
              <a:t>T-shirt size estimates</a:t>
            </a:r>
            <a:endParaRPr lang="en-US" sz="1600" dirty="0"/>
          </a:p>
        </p:txBody>
      </p:sp>
      <p:sp>
        <p:nvSpPr>
          <p:cNvPr id="24" name="Idea promise"/>
          <p:cNvSpPr txBox="1"/>
          <p:nvPr/>
        </p:nvSpPr>
        <p:spPr>
          <a:xfrm>
            <a:off x="640080" y="5577840"/>
            <a:ext cx="10881360" cy="457200"/>
          </a:xfrm>
          <a:prstGeom prst="rect">
            <a:avLst/>
          </a:prstGeom>
          <a:noFill/>
          <a:ln/>
        </p:spPr>
        <p:txBody>
          <a:bodyPr wrap="square" lIns="0" tIns="0" rIns="0" bIns="0" rtlCol="0" anchor="t"/>
          <a:lstStyle/>
          <a:p>
            <a:pPr marL="0" indent="0">
              <a:buNone/>
            </a:pPr>
            <a:r>
              <a:rPr lang="en-US" sz="2000" b="1" dirty="0">
                <a:solidFill>
                  <a:schemeClr val="tx1"/>
                </a:solidFill>
              </a:rPr>
              <a:t>Vague input gets questions, not guesses.</a:t>
            </a:r>
            <a:endParaRPr lang="en-US" sz="20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accent2"/>
                </a:solidFill>
              </a:rPr>
              <a:t>ARCHITECTURE</a:t>
            </a:r>
            <a:endParaRPr lang="en-US" sz="1300" dirty="0"/>
          </a:p>
        </p:txBody>
      </p:sp>
      <p:sp>
        <p:nvSpPr>
          <p:cNvPr id="3" name="Text 1"/>
          <p:cNvSpPr>
            <a:spLocks noGrp="1"/>
          </p:cNvSpPr>
          <p:nvPr>
            <p:ph type="title" idx="102" hasCustomPrompt="1"/>
          </p:nvPr>
        </p:nvSpPr>
        <p:spPr>
          <a:xfrm>
            <a:off x="640080" y="713232"/>
            <a:ext cx="10881360" cy="868680"/>
          </a:xfrm>
          <a:prstGeom prst="rect">
            <a:avLst/>
          </a:prstGeom>
          <a:noFill/>
          <a:ln/>
        </p:spPr>
        <p:txBody>
          <a:bodyPr wrap="square" lIns="0" tIns="0" rIns="0" bIns="0" rtlCol="0" anchor="t"/>
          <a:lstStyle/>
          <a:p>
            <a:pPr marL="0" indent="0" algn="l">
              <a:buNone/>
            </a:pPr>
            <a:r>
              <a:rPr lang="en-US" sz="3400" b="1" dirty="0">
                <a:solidFill>
                  <a:schemeClr val="bg1"/>
                </a:solidFill>
              </a:rPr>
              <a:t>A sequential pipeline with a parallel finish</a:t>
            </a:r>
            <a:endParaRPr lang="en-US" sz="3400" dirty="0"/>
          </a:p>
        </p:txBody>
      </p:sp>
      <p:sp>
        <p:nvSpPr>
          <p:cNvPr id="4" name="Stage card 1"/>
          <p:cNvSpPr/>
          <p:nvPr/>
        </p:nvSpPr>
        <p:spPr>
          <a:xfrm>
            <a:off x="640080" y="1783080"/>
            <a:ext cx="1920240" cy="2331720"/>
          </a:xfrm>
          <a:prstGeom prst="roundRect">
            <a:avLst>
              <a:gd name="adj" fmla="val 5714"/>
            </a:avLst>
          </a:prstGeom>
          <a:solidFill>
            <a:schemeClr val="tx2"/>
          </a:solidFill>
          <a:ln/>
        </p:spPr>
      </p:sp>
      <p:sp>
        <p:nvSpPr>
          <p:cNvPr id="5" name="Stage label 1"/>
          <p:cNvSpPr txBox="1"/>
          <p:nvPr/>
        </p:nvSpPr>
        <p:spPr>
          <a:xfrm>
            <a:off x="822960" y="1938528"/>
            <a:ext cx="155448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CODE</a:t>
            </a:r>
            <a:endParaRPr lang="en-US" sz="1200" dirty="0"/>
          </a:p>
        </p:txBody>
      </p:sp>
      <p:sp>
        <p:nvSpPr>
          <p:cNvPr id="6" name="Stage title 1"/>
          <p:cNvSpPr txBox="1"/>
          <p:nvPr/>
        </p:nvSpPr>
        <p:spPr>
          <a:xfrm>
            <a:off x="822960" y="2286000"/>
            <a:ext cx="1600200" cy="685800"/>
          </a:xfrm>
          <a:prstGeom prst="rect">
            <a:avLst/>
          </a:prstGeom>
          <a:noFill/>
          <a:ln/>
        </p:spPr>
        <p:txBody>
          <a:bodyPr wrap="square" lIns="0" tIns="0" rIns="0" bIns="0" rtlCol="0" anchor="t"/>
          <a:lstStyle/>
          <a:p>
            <a:pPr marL="0" indent="0">
              <a:buNone/>
            </a:pPr>
            <a:r>
              <a:rPr lang="en-US" sz="1800" b="1" dirty="0">
                <a:solidFill>
                  <a:schemeClr val="bg1"/>
                </a:solidFill>
              </a:rPr>
              <a:t>Input Guard</a:t>
            </a:r>
            <a:endParaRPr lang="en-US" sz="1800" dirty="0"/>
          </a:p>
        </p:txBody>
      </p:sp>
      <p:sp>
        <p:nvSpPr>
          <p:cNvPr id="7" name="Stage text 1"/>
          <p:cNvSpPr txBox="1"/>
          <p:nvPr/>
        </p:nvSpPr>
        <p:spPr>
          <a:xfrm>
            <a:off x="822960" y="3017520"/>
            <a:ext cx="1600200" cy="1005840"/>
          </a:xfrm>
          <a:prstGeom prst="rect">
            <a:avLst/>
          </a:prstGeom>
          <a:noFill/>
          <a:ln/>
        </p:spPr>
        <p:txBody>
          <a:bodyPr wrap="square" lIns="0" tIns="0" rIns="0" bIns="0" rtlCol="0" anchor="t"/>
          <a:lstStyle/>
          <a:p>
            <a:pPr marL="0" indent="0">
              <a:buNone/>
            </a:pPr>
            <a:r>
              <a:rPr lang="en-US" sz="1300" dirty="0">
                <a:solidFill>
                  <a:schemeClr val="bg2"/>
                </a:solidFill>
              </a:rPr>
              <a:t>Empty or trivial input stops here.</a:t>
            </a:r>
            <a:endParaRPr lang="en-US" sz="1300" dirty="0"/>
          </a:p>
        </p:txBody>
      </p:sp>
      <p:sp>
        <p:nvSpPr>
          <p:cNvPr id="8" name="Arrow"/>
          <p:cNvSpPr/>
          <p:nvPr/>
        </p:nvSpPr>
        <p:spPr>
          <a:xfrm>
            <a:off x="2615184" y="2743200"/>
            <a:ext cx="219456" cy="274320"/>
          </a:xfrm>
          <a:prstGeom prst="rightArrow">
            <a:avLst/>
          </a:prstGeom>
          <a:solidFill>
            <a:schemeClr val="accent2"/>
          </a:solidFill>
          <a:ln/>
        </p:spPr>
      </p:sp>
      <p:sp>
        <p:nvSpPr>
          <p:cNvPr id="9" name="Stage card 2"/>
          <p:cNvSpPr/>
          <p:nvPr/>
        </p:nvSpPr>
        <p:spPr>
          <a:xfrm>
            <a:off x="2880360" y="1783080"/>
            <a:ext cx="1920240" cy="2331720"/>
          </a:xfrm>
          <a:prstGeom prst="roundRect">
            <a:avLst>
              <a:gd name="adj" fmla="val 5714"/>
            </a:avLst>
          </a:prstGeom>
          <a:solidFill>
            <a:schemeClr val="tx2"/>
          </a:solidFill>
          <a:ln/>
        </p:spPr>
      </p:sp>
      <p:sp>
        <p:nvSpPr>
          <p:cNvPr id="10" name="Stage label 2"/>
          <p:cNvSpPr txBox="1"/>
          <p:nvPr/>
        </p:nvSpPr>
        <p:spPr>
          <a:xfrm>
            <a:off x="3063240" y="1938528"/>
            <a:ext cx="155448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AGENT</a:t>
            </a:r>
            <a:endParaRPr lang="en-US" sz="1200" dirty="0"/>
          </a:p>
        </p:txBody>
      </p:sp>
      <p:sp>
        <p:nvSpPr>
          <p:cNvPr id="11" name="Stage title 2"/>
          <p:cNvSpPr txBox="1"/>
          <p:nvPr/>
        </p:nvSpPr>
        <p:spPr>
          <a:xfrm>
            <a:off x="3063240" y="2286000"/>
            <a:ext cx="1600200" cy="685800"/>
          </a:xfrm>
          <a:prstGeom prst="rect">
            <a:avLst/>
          </a:prstGeom>
          <a:noFill/>
          <a:ln/>
        </p:spPr>
        <p:txBody>
          <a:bodyPr wrap="square" lIns="0" tIns="0" rIns="0" bIns="0" rtlCol="0" anchor="t"/>
          <a:lstStyle/>
          <a:p>
            <a:pPr marL="0" indent="0">
              <a:buNone/>
            </a:pPr>
            <a:r>
              <a:rPr lang="en-US" sz="1800" b="1" dirty="0">
                <a:solidFill>
                  <a:schemeClr val="bg1"/>
                </a:solidFill>
              </a:rPr>
              <a:t>Extractor</a:t>
            </a:r>
            <a:endParaRPr lang="en-US" sz="1800" dirty="0"/>
          </a:p>
        </p:txBody>
      </p:sp>
      <p:sp>
        <p:nvSpPr>
          <p:cNvPr id="12" name="Stage text 2"/>
          <p:cNvSpPr txBox="1"/>
          <p:nvPr/>
        </p:nvSpPr>
        <p:spPr>
          <a:xfrm>
            <a:off x="3063240" y="3017520"/>
            <a:ext cx="1600200" cy="1005840"/>
          </a:xfrm>
          <a:prstGeom prst="rect">
            <a:avLst/>
          </a:prstGeom>
          <a:noFill/>
          <a:ln/>
        </p:spPr>
        <p:txBody>
          <a:bodyPr wrap="square" lIns="0" tIns="0" rIns="0" bIns="0" rtlCol="0" anchor="t"/>
          <a:lstStyle/>
          <a:p>
            <a:pPr marL="0" indent="0">
              <a:buNone/>
            </a:pPr>
            <a:r>
              <a:rPr lang="en-US" sz="1300" dirty="0">
                <a:solidFill>
                  <a:schemeClr val="bg2"/>
                </a:solidFill>
              </a:rPr>
              <a:t>Stated vs ambiguous, with verbatim quotes.</a:t>
            </a:r>
            <a:endParaRPr lang="en-US" sz="1300" dirty="0"/>
          </a:p>
        </p:txBody>
      </p:sp>
      <p:sp>
        <p:nvSpPr>
          <p:cNvPr id="13" name="Arrow"/>
          <p:cNvSpPr/>
          <p:nvPr/>
        </p:nvSpPr>
        <p:spPr>
          <a:xfrm>
            <a:off x="4855464" y="2743200"/>
            <a:ext cx="219456" cy="274320"/>
          </a:xfrm>
          <a:prstGeom prst="rightArrow">
            <a:avLst/>
          </a:prstGeom>
          <a:solidFill>
            <a:schemeClr val="accent2"/>
          </a:solidFill>
          <a:ln/>
        </p:spPr>
      </p:sp>
      <p:sp>
        <p:nvSpPr>
          <p:cNvPr id="14" name="Stage card 3"/>
          <p:cNvSpPr/>
          <p:nvPr/>
        </p:nvSpPr>
        <p:spPr>
          <a:xfrm>
            <a:off x="5120640" y="1783080"/>
            <a:ext cx="1920240" cy="2331720"/>
          </a:xfrm>
          <a:prstGeom prst="roundRect">
            <a:avLst>
              <a:gd name="adj" fmla="val 5714"/>
            </a:avLst>
          </a:prstGeom>
          <a:solidFill>
            <a:schemeClr val="tx2"/>
          </a:solidFill>
          <a:ln/>
        </p:spPr>
      </p:sp>
      <p:sp>
        <p:nvSpPr>
          <p:cNvPr id="15" name="Stage label 3"/>
          <p:cNvSpPr txBox="1"/>
          <p:nvPr/>
        </p:nvSpPr>
        <p:spPr>
          <a:xfrm>
            <a:off x="5303520" y="1938528"/>
            <a:ext cx="155448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AGENT</a:t>
            </a:r>
            <a:endParaRPr lang="en-US" sz="1200" dirty="0"/>
          </a:p>
        </p:txBody>
      </p:sp>
      <p:sp>
        <p:nvSpPr>
          <p:cNvPr id="16" name="Stage title 3"/>
          <p:cNvSpPr txBox="1"/>
          <p:nvPr/>
        </p:nvSpPr>
        <p:spPr>
          <a:xfrm>
            <a:off x="5303520" y="2286000"/>
            <a:ext cx="1600200" cy="685800"/>
          </a:xfrm>
          <a:prstGeom prst="rect">
            <a:avLst/>
          </a:prstGeom>
          <a:noFill/>
          <a:ln/>
        </p:spPr>
        <p:txBody>
          <a:bodyPr wrap="square" lIns="0" tIns="0" rIns="0" bIns="0" rtlCol="0" anchor="t"/>
          <a:lstStyle/>
          <a:p>
            <a:pPr marL="0" indent="0">
              <a:buNone/>
            </a:pPr>
            <a:r>
              <a:rPr lang="en-US" sz="1800" b="1" dirty="0">
                <a:solidFill>
                  <a:schemeClr val="bg1"/>
                </a:solidFill>
              </a:rPr>
              <a:t>PRD Generator</a:t>
            </a:r>
            <a:endParaRPr lang="en-US" sz="1800" dirty="0"/>
          </a:p>
        </p:txBody>
      </p:sp>
      <p:sp>
        <p:nvSpPr>
          <p:cNvPr id="17" name="Stage text 3"/>
          <p:cNvSpPr txBox="1"/>
          <p:nvPr/>
        </p:nvSpPr>
        <p:spPr>
          <a:xfrm>
            <a:off x="5303520" y="3017520"/>
            <a:ext cx="1600200" cy="1005840"/>
          </a:xfrm>
          <a:prstGeom prst="rect">
            <a:avLst/>
          </a:prstGeom>
          <a:noFill/>
          <a:ln/>
        </p:spPr>
        <p:txBody>
          <a:bodyPr wrap="square" lIns="0" tIns="0" rIns="0" bIns="0" rtlCol="0" anchor="t"/>
          <a:lstStyle/>
          <a:p>
            <a:pPr marL="0" indent="0">
              <a:buNone/>
            </a:pPr>
            <a:r>
              <a:rPr lang="en-US" sz="1300" dirty="0">
                <a:solidFill>
                  <a:schemeClr val="bg2"/>
                </a:solidFill>
              </a:rPr>
              <a:t>Ten-section PRD from the extraction only.</a:t>
            </a:r>
            <a:endParaRPr lang="en-US" sz="1300" dirty="0"/>
          </a:p>
        </p:txBody>
      </p:sp>
      <p:sp>
        <p:nvSpPr>
          <p:cNvPr id="18" name="Arrow"/>
          <p:cNvSpPr/>
          <p:nvPr/>
        </p:nvSpPr>
        <p:spPr>
          <a:xfrm>
            <a:off x="7095744" y="2743200"/>
            <a:ext cx="219456" cy="274320"/>
          </a:xfrm>
          <a:prstGeom prst="rightArrow">
            <a:avLst/>
          </a:prstGeom>
          <a:solidFill>
            <a:schemeClr val="accent2"/>
          </a:solidFill>
          <a:ln/>
        </p:spPr>
      </p:sp>
      <p:sp>
        <p:nvSpPr>
          <p:cNvPr id="19" name="Stage card 4"/>
          <p:cNvSpPr/>
          <p:nvPr/>
        </p:nvSpPr>
        <p:spPr>
          <a:xfrm>
            <a:off x="7360920" y="1783080"/>
            <a:ext cx="1920240" cy="2331720"/>
          </a:xfrm>
          <a:prstGeom prst="roundRect">
            <a:avLst>
              <a:gd name="adj" fmla="val 5714"/>
            </a:avLst>
          </a:prstGeom>
          <a:solidFill>
            <a:schemeClr val="tx2"/>
          </a:solidFill>
          <a:ln/>
        </p:spPr>
      </p:sp>
      <p:sp>
        <p:nvSpPr>
          <p:cNvPr id="20" name="Stage label 4"/>
          <p:cNvSpPr txBox="1"/>
          <p:nvPr/>
        </p:nvSpPr>
        <p:spPr>
          <a:xfrm>
            <a:off x="7543800" y="1938528"/>
            <a:ext cx="155448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AGENT</a:t>
            </a:r>
            <a:endParaRPr lang="en-US" sz="1200" dirty="0"/>
          </a:p>
        </p:txBody>
      </p:sp>
      <p:sp>
        <p:nvSpPr>
          <p:cNvPr id="21" name="Stage title 4"/>
          <p:cNvSpPr txBox="1"/>
          <p:nvPr/>
        </p:nvSpPr>
        <p:spPr>
          <a:xfrm>
            <a:off x="7543800" y="2286000"/>
            <a:ext cx="1600200" cy="685800"/>
          </a:xfrm>
          <a:prstGeom prst="rect">
            <a:avLst/>
          </a:prstGeom>
          <a:noFill/>
          <a:ln/>
        </p:spPr>
        <p:txBody>
          <a:bodyPr wrap="square" lIns="0" tIns="0" rIns="0" bIns="0" rtlCol="0" anchor="t"/>
          <a:lstStyle/>
          <a:p>
            <a:pPr marL="0" indent="0">
              <a:buNone/>
            </a:pPr>
            <a:r>
              <a:rPr lang="en-US" sz="1800" b="1" dirty="0">
                <a:solidFill>
                  <a:schemeClr val="bg1"/>
                </a:solidFill>
              </a:rPr>
              <a:t>Story Breakdown</a:t>
            </a:r>
            <a:endParaRPr lang="en-US" sz="1800" dirty="0"/>
          </a:p>
        </p:txBody>
      </p:sp>
      <p:sp>
        <p:nvSpPr>
          <p:cNvPr id="22" name="Stage text 4"/>
          <p:cNvSpPr txBox="1"/>
          <p:nvPr/>
        </p:nvSpPr>
        <p:spPr>
          <a:xfrm>
            <a:off x="7543800" y="3017520"/>
            <a:ext cx="1600200" cy="1005840"/>
          </a:xfrm>
          <a:prstGeom prst="rect">
            <a:avLst/>
          </a:prstGeom>
          <a:noFill/>
          <a:ln/>
        </p:spPr>
        <p:txBody>
          <a:bodyPr wrap="square" lIns="0" tIns="0" rIns="0" bIns="0" rtlCol="0" anchor="t"/>
          <a:lstStyle/>
          <a:p>
            <a:pPr marL="0" indent="0">
              <a:buNone/>
            </a:pPr>
            <a:r>
              <a:rPr lang="en-US" sz="1300" dirty="0">
                <a:solidFill>
                  <a:schemeClr val="bg2"/>
                </a:solidFill>
              </a:rPr>
              <a:t>Epics, features, stories, priorities.</a:t>
            </a:r>
            <a:endParaRPr lang="en-US" sz="1300" dirty="0"/>
          </a:p>
        </p:txBody>
      </p:sp>
      <p:sp>
        <p:nvSpPr>
          <p:cNvPr id="23" name="Arrow"/>
          <p:cNvSpPr/>
          <p:nvPr/>
        </p:nvSpPr>
        <p:spPr>
          <a:xfrm>
            <a:off x="9336024" y="2743200"/>
            <a:ext cx="219456" cy="274320"/>
          </a:xfrm>
          <a:prstGeom prst="rightArrow">
            <a:avLst/>
          </a:prstGeom>
          <a:solidFill>
            <a:schemeClr val="accent2"/>
          </a:solidFill>
          <a:ln/>
        </p:spPr>
      </p:sp>
      <p:sp>
        <p:nvSpPr>
          <p:cNvPr id="24" name="Stage card 5"/>
          <p:cNvSpPr/>
          <p:nvPr/>
        </p:nvSpPr>
        <p:spPr>
          <a:xfrm>
            <a:off x="9601200" y="1783080"/>
            <a:ext cx="1920240" cy="2331720"/>
          </a:xfrm>
          <a:prstGeom prst="roundRect">
            <a:avLst>
              <a:gd name="adj" fmla="val 5714"/>
            </a:avLst>
          </a:prstGeom>
          <a:solidFill>
            <a:schemeClr val="tx2"/>
          </a:solidFill>
          <a:ln/>
        </p:spPr>
      </p:sp>
      <p:sp>
        <p:nvSpPr>
          <p:cNvPr id="25" name="Stage label 5"/>
          <p:cNvSpPr txBox="1"/>
          <p:nvPr/>
        </p:nvSpPr>
        <p:spPr>
          <a:xfrm>
            <a:off x="9784080" y="1938528"/>
            <a:ext cx="155448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PARALLEL</a:t>
            </a:r>
            <a:endParaRPr lang="en-US" sz="1200" dirty="0"/>
          </a:p>
        </p:txBody>
      </p:sp>
      <p:sp>
        <p:nvSpPr>
          <p:cNvPr id="26" name="Stage title 5"/>
          <p:cNvSpPr txBox="1"/>
          <p:nvPr/>
        </p:nvSpPr>
        <p:spPr>
          <a:xfrm>
            <a:off x="9784080" y="2286000"/>
            <a:ext cx="1600200" cy="685800"/>
          </a:xfrm>
          <a:prstGeom prst="rect">
            <a:avLst/>
          </a:prstGeom>
          <a:noFill/>
          <a:ln/>
        </p:spPr>
        <p:txBody>
          <a:bodyPr wrap="square" lIns="0" tIns="0" rIns="0" bIns="0" rtlCol="0" anchor="t"/>
          <a:lstStyle/>
          <a:p>
            <a:pPr marL="0" indent="0">
              <a:buNone/>
            </a:pPr>
            <a:r>
              <a:rPr lang="en-US" sz="1800" b="1" dirty="0">
                <a:solidFill>
                  <a:schemeClr val="bg1"/>
                </a:solidFill>
              </a:rPr>
              <a:t>Gap + Scope</a:t>
            </a:r>
            <a:endParaRPr lang="en-US" sz="1800" dirty="0"/>
          </a:p>
        </p:txBody>
      </p:sp>
      <p:sp>
        <p:nvSpPr>
          <p:cNvPr id="27" name="Stage text 5"/>
          <p:cNvSpPr txBox="1"/>
          <p:nvPr/>
        </p:nvSpPr>
        <p:spPr>
          <a:xfrm>
            <a:off x="9784080" y="3017520"/>
            <a:ext cx="1600200" cy="1005840"/>
          </a:xfrm>
          <a:prstGeom prst="rect">
            <a:avLst/>
          </a:prstGeom>
          <a:noFill/>
          <a:ln/>
        </p:spPr>
        <p:txBody>
          <a:bodyPr wrap="square" lIns="0" tIns="0" rIns="0" bIns="0" rtlCol="0" anchor="t"/>
          <a:lstStyle/>
          <a:p>
            <a:pPr marL="0" indent="0">
              <a:buNone/>
            </a:pPr>
            <a:r>
              <a:rPr lang="en-US" sz="1300" dirty="0">
                <a:solidFill>
                  <a:schemeClr val="bg2"/>
                </a:solidFill>
              </a:rPr>
              <a:t>Questions and sizes, run side by side.</a:t>
            </a:r>
            <a:endParaRPr lang="en-US" sz="1300" dirty="0"/>
          </a:p>
        </p:txBody>
      </p:sp>
      <p:sp>
        <p:nvSpPr>
          <p:cNvPr id="28" name="Side card 1"/>
          <p:cNvSpPr/>
          <p:nvPr/>
        </p:nvSpPr>
        <p:spPr>
          <a:xfrm>
            <a:off x="640080" y="4389120"/>
            <a:ext cx="3474720" cy="1325880"/>
          </a:xfrm>
          <a:prstGeom prst="roundRect">
            <a:avLst>
              <a:gd name="adj" fmla="val 8276"/>
            </a:avLst>
          </a:prstGeom>
          <a:solidFill>
            <a:schemeClr val="tx2"/>
          </a:solidFill>
          <a:ln/>
        </p:spPr>
      </p:sp>
      <p:sp>
        <p:nvSpPr>
          <p:cNvPr id="29" name="Side label 1"/>
          <p:cNvSpPr txBox="1"/>
          <p:nvPr/>
        </p:nvSpPr>
        <p:spPr>
          <a:xfrm>
            <a:off x="868680" y="4553712"/>
            <a:ext cx="301752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BRANCH</a:t>
            </a:r>
            <a:endParaRPr lang="en-US" sz="1200" dirty="0"/>
          </a:p>
        </p:txBody>
      </p:sp>
      <p:sp>
        <p:nvSpPr>
          <p:cNvPr id="30" name="Side text 1"/>
          <p:cNvSpPr txBox="1"/>
          <p:nvPr/>
        </p:nvSpPr>
        <p:spPr>
          <a:xfrm>
            <a:off x="868680" y="4892040"/>
            <a:ext cx="3017520" cy="777240"/>
          </a:xfrm>
          <a:prstGeom prst="rect">
            <a:avLst/>
          </a:prstGeom>
          <a:noFill/>
          <a:ln/>
        </p:spPr>
        <p:txBody>
          <a:bodyPr wrap="square" lIns="0" tIns="0" rIns="0" bIns="0" rtlCol="0" anchor="t"/>
          <a:lstStyle/>
          <a:p>
            <a:pPr marL="0" indent="0">
              <a:buNone/>
            </a:pPr>
            <a:r>
              <a:rPr lang="en-US" sz="1400" dirty="0">
                <a:solidFill>
                  <a:schemeClr val="bg2"/>
                </a:solidFill>
              </a:rPr>
              <a:t>Not enough to write a PRD? A Gap Analyzer returns clarification questions instead.</a:t>
            </a:r>
            <a:endParaRPr lang="en-US" sz="1400" dirty="0"/>
          </a:p>
        </p:txBody>
      </p:sp>
      <p:sp>
        <p:nvSpPr>
          <p:cNvPr id="31" name="Side card 2"/>
          <p:cNvSpPr/>
          <p:nvPr/>
        </p:nvSpPr>
        <p:spPr>
          <a:xfrm>
            <a:off x="4434840" y="4389120"/>
            <a:ext cx="3474720" cy="1325880"/>
          </a:xfrm>
          <a:prstGeom prst="roundRect">
            <a:avLst>
              <a:gd name="adj" fmla="val 8276"/>
            </a:avLst>
          </a:prstGeom>
          <a:solidFill>
            <a:schemeClr val="tx2"/>
          </a:solidFill>
          <a:ln/>
        </p:spPr>
      </p:sp>
      <p:sp>
        <p:nvSpPr>
          <p:cNvPr id="32" name="Side label 2"/>
          <p:cNvSpPr txBox="1"/>
          <p:nvPr/>
        </p:nvSpPr>
        <p:spPr>
          <a:xfrm>
            <a:off x="4663440" y="4553712"/>
            <a:ext cx="301752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RETRIEVAL</a:t>
            </a:r>
            <a:endParaRPr lang="en-US" sz="1200" dirty="0"/>
          </a:p>
        </p:txBody>
      </p:sp>
      <p:sp>
        <p:nvSpPr>
          <p:cNvPr id="33" name="Side text 2"/>
          <p:cNvSpPr txBox="1"/>
          <p:nvPr/>
        </p:nvSpPr>
        <p:spPr>
          <a:xfrm>
            <a:off x="4663440" y="4892040"/>
            <a:ext cx="3017520" cy="777240"/>
          </a:xfrm>
          <a:prstGeom prst="rect">
            <a:avLst/>
          </a:prstGeom>
          <a:noFill/>
          <a:ln/>
        </p:spPr>
        <p:txBody>
          <a:bodyPr wrap="square" lIns="0" tIns="0" rIns="0" bIns="0" rtlCol="0" anchor="t"/>
          <a:lstStyle/>
          <a:p>
            <a:pPr marL="0" indent="0">
              <a:buNone/>
            </a:pPr>
            <a:r>
              <a:rPr lang="en-US" sz="1400" dirty="0">
                <a:solidFill>
                  <a:schemeClr val="bg2"/>
                </a:solidFill>
              </a:rPr>
              <a:t>Pinecone supplies PRD template structure and style. Never content.</a:t>
            </a:r>
            <a:endParaRPr lang="en-US" sz="1400" dirty="0"/>
          </a:p>
        </p:txBody>
      </p:sp>
      <p:sp>
        <p:nvSpPr>
          <p:cNvPr id="34" name="Side card 3"/>
          <p:cNvSpPr/>
          <p:nvPr/>
        </p:nvSpPr>
        <p:spPr>
          <a:xfrm>
            <a:off x="8229600" y="4389120"/>
            <a:ext cx="3474720" cy="1325880"/>
          </a:xfrm>
          <a:prstGeom prst="roundRect">
            <a:avLst>
              <a:gd name="adj" fmla="val 8276"/>
            </a:avLst>
          </a:prstGeom>
          <a:solidFill>
            <a:schemeClr val="tx2"/>
          </a:solidFill>
          <a:ln/>
        </p:spPr>
      </p:sp>
      <p:sp>
        <p:nvSpPr>
          <p:cNvPr id="35" name="Side label 3"/>
          <p:cNvSpPr txBox="1"/>
          <p:nvPr/>
        </p:nvSpPr>
        <p:spPr>
          <a:xfrm>
            <a:off x="8458200" y="4553712"/>
            <a:ext cx="301752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OBSERVABILITY</a:t>
            </a:r>
            <a:endParaRPr lang="en-US" sz="1200" dirty="0"/>
          </a:p>
        </p:txBody>
      </p:sp>
      <p:sp>
        <p:nvSpPr>
          <p:cNvPr id="36" name="Side text 3"/>
          <p:cNvSpPr txBox="1"/>
          <p:nvPr/>
        </p:nvSpPr>
        <p:spPr>
          <a:xfrm>
            <a:off x="8458200" y="4892040"/>
            <a:ext cx="3017520" cy="777240"/>
          </a:xfrm>
          <a:prstGeom prst="rect">
            <a:avLst/>
          </a:prstGeom>
          <a:noFill/>
          <a:ln/>
        </p:spPr>
        <p:txBody>
          <a:bodyPr wrap="square" lIns="0" tIns="0" rIns="0" bIns="0" rtlCol="0" anchor="t"/>
          <a:lstStyle/>
          <a:p>
            <a:pPr marL="0" indent="0">
              <a:buNone/>
            </a:pPr>
            <a:r>
              <a:rPr lang="en-US" sz="1400" dirty="0">
                <a:solidFill>
                  <a:schemeClr val="bg2"/>
                </a:solidFill>
              </a:rPr>
              <a:t>Langfuse traces every agent and scores grounding on every run.</a:t>
            </a:r>
            <a:endParaRPr lang="en-US" sz="1400" dirty="0"/>
          </a:p>
        </p:txBody>
      </p:sp>
      <p:sp>
        <p:nvSpPr>
          <p:cNvPr id="37" name="Architecture rationale"/>
          <p:cNvSpPr txBox="1"/>
          <p:nvPr/>
        </p:nvSpPr>
        <p:spPr>
          <a:xfrm>
            <a:off x="640080" y="5852160"/>
            <a:ext cx="10881360" cy="365760"/>
          </a:xfrm>
          <a:prstGeom prst="rect">
            <a:avLst/>
          </a:prstGeom>
          <a:noFill/>
          <a:ln/>
        </p:spPr>
        <p:txBody>
          <a:bodyPr wrap="square" lIns="0" tIns="0" rIns="0" bIns="0" rtlCol="0" anchor="t"/>
          <a:lstStyle/>
          <a:p>
            <a:pPr marL="0" indent="0">
              <a:buNone/>
            </a:pPr>
            <a:r>
              <a:rPr lang="en-US" sz="1600" b="1" dirty="0">
                <a:solidFill>
                  <a:schemeClr val="bg1"/>
                </a:solidFill>
              </a:rPr>
              <a:t>Why sequential: every input needs the same stages in the same order.</a:t>
            </a:r>
            <a:endParaRPr lang="en-US" sz="1600" dirty="0"/>
          </a:p>
        </p:txBody>
      </p:sp>
      <p:sp>
        <p:nvSpPr>
          <p:cNvPr id="38"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TRUST</a:t>
            </a:r>
            <a:endParaRPr lang="en-US" sz="1300" dirty="0"/>
          </a:p>
        </p:txBody>
      </p:sp>
      <p:sp>
        <p:nvSpPr>
          <p:cNvPr id="3" name="Text 1"/>
          <p:cNvSpPr>
            <a:spLocks noGrp="1"/>
          </p:cNvSpPr>
          <p:nvPr>
            <p:ph type="title" idx="102" hasCustomPrompt="1"/>
          </p:nvPr>
        </p:nvSpPr>
        <p:spPr>
          <a:xfrm>
            <a:off x="640080" y="713232"/>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Every requirement traces back to the input</a:t>
            </a:r>
            <a:endParaRPr lang="en-US" sz="3400" dirty="0"/>
          </a:p>
        </p:txBody>
      </p:sp>
      <p:sp>
        <p:nvSpPr>
          <p:cNvPr id="4" name="Trust card 1"/>
          <p:cNvSpPr/>
          <p:nvPr/>
        </p:nvSpPr>
        <p:spPr>
          <a:xfrm>
            <a:off x="640080" y="1783080"/>
            <a:ext cx="5349240" cy="1920240"/>
          </a:xfrm>
          <a:prstGeom prst="roundRect">
            <a:avLst>
              <a:gd name="adj" fmla="val 5714"/>
            </a:avLst>
          </a:prstGeom>
          <a:solidFill>
            <a:schemeClr val="bg1"/>
          </a:solidFill>
          <a:ln/>
          <a:effectLst>
            <a:outerShdw blurRad="127000" dist="25400" dir="5400000" algn="bl" rotWithShape="0">
              <a:srgbClr val="0F1E2E">
                <a:alpha val="14000"/>
              </a:srgbClr>
            </a:outerShdw>
          </a:effectLst>
        </p:spPr>
      </p:sp>
      <p:sp>
        <p:nvSpPr>
          <p:cNvPr id="5" name="Trust icon 1 circle"/>
          <p:cNvSpPr/>
          <p:nvPr/>
        </p:nvSpPr>
        <p:spPr>
          <a:xfrm>
            <a:off x="960120" y="2148840"/>
            <a:ext cx="731520" cy="731520"/>
          </a:xfrm>
          <a:prstGeom prst="ellipse">
            <a:avLst/>
          </a:prstGeom>
          <a:solidFill>
            <a:schemeClr val="accent1"/>
          </a:solidFill>
          <a:ln/>
        </p:spPr>
      </p:sp>
      <p:pic>
        <p:nvPicPr>
          <p:cNvPr id="6" name="Trust icon 1" descr="Trust icon 1"/>
          <p:cNvPicPr>
            <a:picLocks noChangeAspect="1"/>
          </p:cNvPicPr>
          <p:nvPr/>
        </p:nvPicPr>
        <p:blipFill>
          <a:blip r:embed="rId3"/>
          <a:stretch>
            <a:fillRect/>
          </a:stretch>
        </p:blipFill>
        <p:spPr>
          <a:xfrm>
            <a:off x="1157630" y="2346350"/>
            <a:ext cx="336499" cy="336499"/>
          </a:xfrm>
          <a:prstGeom prst="rect">
            <a:avLst/>
          </a:prstGeom>
        </p:spPr>
      </p:pic>
      <p:sp>
        <p:nvSpPr>
          <p:cNvPr id="7" name="Trust title 1"/>
          <p:cNvSpPr txBox="1"/>
          <p:nvPr/>
        </p:nvSpPr>
        <p:spPr>
          <a:xfrm>
            <a:off x="2011680" y="2075688"/>
            <a:ext cx="3749040" cy="411480"/>
          </a:xfrm>
          <a:prstGeom prst="rect">
            <a:avLst/>
          </a:prstGeom>
          <a:noFill/>
          <a:ln/>
        </p:spPr>
        <p:txBody>
          <a:bodyPr wrap="square" lIns="0" tIns="0" rIns="0" bIns="0" rtlCol="0" anchor="t"/>
          <a:lstStyle/>
          <a:p>
            <a:pPr marL="0" indent="0">
              <a:buNone/>
            </a:pPr>
            <a:r>
              <a:rPr lang="en-US" sz="1900" b="1" dirty="0">
                <a:solidFill>
                  <a:schemeClr val="tx1"/>
                </a:solidFill>
              </a:rPr>
              <a:t>Verbatim quotes</a:t>
            </a:r>
            <a:endParaRPr lang="en-US" sz="1900" dirty="0"/>
          </a:p>
        </p:txBody>
      </p:sp>
      <p:sp>
        <p:nvSpPr>
          <p:cNvPr id="8" name="Trust text 1"/>
          <p:cNvSpPr txBox="1"/>
          <p:nvPr/>
        </p:nvSpPr>
        <p:spPr>
          <a:xfrm>
            <a:off x="2011680" y="2560320"/>
            <a:ext cx="3749040" cy="1005840"/>
          </a:xfrm>
          <a:prstGeom prst="rect">
            <a:avLst/>
          </a:prstGeom>
          <a:noFill/>
          <a:ln/>
        </p:spPr>
        <p:txBody>
          <a:bodyPr wrap="square" lIns="0" tIns="0" rIns="0" bIns="0" rtlCol="0" anchor="t"/>
          <a:lstStyle/>
          <a:p>
            <a:pPr marL="0" indent="0">
              <a:buNone/>
            </a:pPr>
            <a:r>
              <a:rPr lang="en-US" sz="1500" dirty="0">
                <a:solidFill>
                  <a:schemeClr val="accent4"/>
                </a:solidFill>
              </a:rPr>
              <a:t>Each requirement carries a quote from the source, and a score checks the quote is really there.</a:t>
            </a:r>
            <a:endParaRPr lang="en-US" sz="1500" dirty="0"/>
          </a:p>
        </p:txBody>
      </p:sp>
      <p:sp>
        <p:nvSpPr>
          <p:cNvPr id="9" name="Trust card 2"/>
          <p:cNvSpPr/>
          <p:nvPr/>
        </p:nvSpPr>
        <p:spPr>
          <a:xfrm>
            <a:off x="6263640" y="1783080"/>
            <a:ext cx="5349240" cy="1920240"/>
          </a:xfrm>
          <a:prstGeom prst="roundRect">
            <a:avLst>
              <a:gd name="adj" fmla="val 5714"/>
            </a:avLst>
          </a:prstGeom>
          <a:solidFill>
            <a:schemeClr val="bg1"/>
          </a:solidFill>
          <a:ln/>
          <a:effectLst>
            <a:outerShdw blurRad="127000" dist="25400" dir="5400000" algn="bl" rotWithShape="0">
              <a:srgbClr val="0F1E2E">
                <a:alpha val="14000"/>
              </a:srgbClr>
            </a:outerShdw>
          </a:effectLst>
        </p:spPr>
      </p:sp>
      <p:sp>
        <p:nvSpPr>
          <p:cNvPr id="10" name="Trust icon 2 circle"/>
          <p:cNvSpPr/>
          <p:nvPr/>
        </p:nvSpPr>
        <p:spPr>
          <a:xfrm>
            <a:off x="6583680" y="2148840"/>
            <a:ext cx="731520" cy="731520"/>
          </a:xfrm>
          <a:prstGeom prst="ellipse">
            <a:avLst/>
          </a:prstGeom>
          <a:solidFill>
            <a:schemeClr val="accent1"/>
          </a:solidFill>
          <a:ln/>
        </p:spPr>
      </p:sp>
      <p:pic>
        <p:nvPicPr>
          <p:cNvPr id="11" name="Trust icon 2" descr="Trust icon 2"/>
          <p:cNvPicPr>
            <a:picLocks noChangeAspect="1"/>
          </p:cNvPicPr>
          <p:nvPr/>
        </p:nvPicPr>
        <p:blipFill>
          <a:blip r:embed="rId4"/>
          <a:stretch>
            <a:fillRect/>
          </a:stretch>
        </p:blipFill>
        <p:spPr>
          <a:xfrm>
            <a:off x="6781190" y="2346350"/>
            <a:ext cx="336499" cy="336499"/>
          </a:xfrm>
          <a:prstGeom prst="rect">
            <a:avLst/>
          </a:prstGeom>
        </p:spPr>
      </p:pic>
      <p:sp>
        <p:nvSpPr>
          <p:cNvPr id="12" name="Trust title 2"/>
          <p:cNvSpPr txBox="1"/>
          <p:nvPr/>
        </p:nvSpPr>
        <p:spPr>
          <a:xfrm>
            <a:off x="7635240" y="2075688"/>
            <a:ext cx="3749040" cy="411480"/>
          </a:xfrm>
          <a:prstGeom prst="rect">
            <a:avLst/>
          </a:prstGeom>
          <a:noFill/>
          <a:ln/>
        </p:spPr>
        <p:txBody>
          <a:bodyPr wrap="square" lIns="0" tIns="0" rIns="0" bIns="0" rtlCol="0" anchor="t"/>
          <a:lstStyle/>
          <a:p>
            <a:pPr marL="0" indent="0">
              <a:buNone/>
            </a:pPr>
            <a:r>
              <a:rPr lang="en-US" sz="1900" b="1" dirty="0">
                <a:solidFill>
                  <a:schemeClr val="tx1"/>
                </a:solidFill>
              </a:rPr>
              <a:t>"Not specified"</a:t>
            </a:r>
            <a:endParaRPr lang="en-US" sz="1900" dirty="0"/>
          </a:p>
        </p:txBody>
      </p:sp>
      <p:sp>
        <p:nvSpPr>
          <p:cNvPr id="13" name="Trust text 2"/>
          <p:cNvSpPr txBox="1"/>
          <p:nvPr/>
        </p:nvSpPr>
        <p:spPr>
          <a:xfrm>
            <a:off x="7635240" y="2560320"/>
            <a:ext cx="3749040" cy="1005840"/>
          </a:xfrm>
          <a:prstGeom prst="rect">
            <a:avLst/>
          </a:prstGeom>
          <a:noFill/>
          <a:ln/>
        </p:spPr>
        <p:txBody>
          <a:bodyPr wrap="square" lIns="0" tIns="0" rIns="0" bIns="0" rtlCol="0" anchor="t"/>
          <a:lstStyle/>
          <a:p>
            <a:pPr marL="0" indent="0">
              <a:buNone/>
            </a:pPr>
            <a:r>
              <a:rPr lang="en-US" sz="1500" dirty="0">
                <a:solidFill>
                  <a:schemeClr val="accent4"/>
                </a:solidFill>
              </a:rPr>
              <a:t>Empty PRD sections say so, instead of inventing goals or personas.</a:t>
            </a:r>
            <a:endParaRPr lang="en-US" sz="1500" dirty="0"/>
          </a:p>
        </p:txBody>
      </p:sp>
      <p:sp>
        <p:nvSpPr>
          <p:cNvPr id="14" name="Trust card 3"/>
          <p:cNvSpPr/>
          <p:nvPr/>
        </p:nvSpPr>
        <p:spPr>
          <a:xfrm>
            <a:off x="640080" y="3931920"/>
            <a:ext cx="5349240" cy="1920240"/>
          </a:xfrm>
          <a:prstGeom prst="roundRect">
            <a:avLst>
              <a:gd name="adj" fmla="val 5714"/>
            </a:avLst>
          </a:prstGeom>
          <a:solidFill>
            <a:schemeClr val="bg1"/>
          </a:solidFill>
          <a:ln/>
          <a:effectLst>
            <a:outerShdw blurRad="127000" dist="25400" dir="5400000" algn="bl" rotWithShape="0">
              <a:srgbClr val="0F1E2E">
                <a:alpha val="14000"/>
              </a:srgbClr>
            </a:outerShdw>
          </a:effectLst>
        </p:spPr>
      </p:sp>
      <p:sp>
        <p:nvSpPr>
          <p:cNvPr id="15" name="Trust icon 3 circle"/>
          <p:cNvSpPr/>
          <p:nvPr/>
        </p:nvSpPr>
        <p:spPr>
          <a:xfrm>
            <a:off x="960120" y="4297680"/>
            <a:ext cx="731520" cy="731520"/>
          </a:xfrm>
          <a:prstGeom prst="ellipse">
            <a:avLst/>
          </a:prstGeom>
          <a:solidFill>
            <a:schemeClr val="accent1"/>
          </a:solidFill>
          <a:ln/>
        </p:spPr>
      </p:sp>
      <p:pic>
        <p:nvPicPr>
          <p:cNvPr id="16" name="Trust icon 3" descr="Trust icon 3"/>
          <p:cNvPicPr>
            <a:picLocks noChangeAspect="1"/>
          </p:cNvPicPr>
          <p:nvPr/>
        </p:nvPicPr>
        <p:blipFill>
          <a:blip r:embed="rId5"/>
          <a:stretch>
            <a:fillRect/>
          </a:stretch>
        </p:blipFill>
        <p:spPr>
          <a:xfrm>
            <a:off x="1157630" y="4495190"/>
            <a:ext cx="336499" cy="336499"/>
          </a:xfrm>
          <a:prstGeom prst="rect">
            <a:avLst/>
          </a:prstGeom>
        </p:spPr>
      </p:pic>
      <p:sp>
        <p:nvSpPr>
          <p:cNvPr id="17" name="Trust title 3"/>
          <p:cNvSpPr txBox="1"/>
          <p:nvPr/>
        </p:nvSpPr>
        <p:spPr>
          <a:xfrm>
            <a:off x="2011680" y="4224528"/>
            <a:ext cx="3749040" cy="411480"/>
          </a:xfrm>
          <a:prstGeom prst="rect">
            <a:avLst/>
          </a:prstGeom>
          <a:noFill/>
          <a:ln/>
        </p:spPr>
        <p:txBody>
          <a:bodyPr wrap="square" lIns="0" tIns="0" rIns="0" bIns="0" rtlCol="0" anchor="t"/>
          <a:lstStyle/>
          <a:p>
            <a:pPr marL="0" indent="0">
              <a:buNone/>
            </a:pPr>
            <a:r>
              <a:rPr lang="en-US" sz="1900" b="1" dirty="0">
                <a:solidFill>
                  <a:schemeClr val="tx1"/>
                </a:solidFill>
              </a:rPr>
              <a:t>Conflicts recorded, not settled</a:t>
            </a:r>
            <a:endParaRPr lang="en-US" sz="1900" dirty="0"/>
          </a:p>
        </p:txBody>
      </p:sp>
      <p:sp>
        <p:nvSpPr>
          <p:cNvPr id="18" name="Trust text 3"/>
          <p:cNvSpPr txBox="1"/>
          <p:nvPr/>
        </p:nvSpPr>
        <p:spPr>
          <a:xfrm>
            <a:off x="2011680" y="4709160"/>
            <a:ext cx="3749040" cy="1005840"/>
          </a:xfrm>
          <a:prstGeom prst="rect">
            <a:avLst/>
          </a:prstGeom>
          <a:noFill/>
          <a:ln/>
        </p:spPr>
        <p:txBody>
          <a:bodyPr wrap="square" lIns="0" tIns="0" rIns="0" bIns="0" rtlCol="0" anchor="t"/>
          <a:lstStyle/>
          <a:p>
            <a:pPr marL="0" indent="0">
              <a:buNone/>
            </a:pPr>
            <a:r>
              <a:rPr lang="en-US" sz="1500" dirty="0">
                <a:solidFill>
                  <a:schemeClr val="accent4"/>
                </a:solidFill>
              </a:rPr>
              <a:t>Contradictions and stakeholder disagreements are flagged for people to resolve.</a:t>
            </a:r>
            <a:endParaRPr lang="en-US" sz="1500" dirty="0"/>
          </a:p>
        </p:txBody>
      </p:sp>
      <p:sp>
        <p:nvSpPr>
          <p:cNvPr id="19" name="Trust card 4"/>
          <p:cNvSpPr/>
          <p:nvPr/>
        </p:nvSpPr>
        <p:spPr>
          <a:xfrm>
            <a:off x="6263640" y="3931920"/>
            <a:ext cx="5349240" cy="1920240"/>
          </a:xfrm>
          <a:prstGeom prst="roundRect">
            <a:avLst>
              <a:gd name="adj" fmla="val 5714"/>
            </a:avLst>
          </a:prstGeom>
          <a:solidFill>
            <a:schemeClr val="bg1"/>
          </a:solidFill>
          <a:ln/>
          <a:effectLst>
            <a:outerShdw blurRad="127000" dist="25400" dir="5400000" algn="bl" rotWithShape="0">
              <a:srgbClr val="0F1E2E">
                <a:alpha val="14000"/>
              </a:srgbClr>
            </a:outerShdw>
          </a:effectLst>
        </p:spPr>
      </p:sp>
      <p:sp>
        <p:nvSpPr>
          <p:cNvPr id="20" name="Trust icon 4 circle"/>
          <p:cNvSpPr/>
          <p:nvPr/>
        </p:nvSpPr>
        <p:spPr>
          <a:xfrm>
            <a:off x="6583680" y="4297680"/>
            <a:ext cx="731520" cy="731520"/>
          </a:xfrm>
          <a:prstGeom prst="ellipse">
            <a:avLst/>
          </a:prstGeom>
          <a:solidFill>
            <a:schemeClr val="accent1"/>
          </a:solidFill>
          <a:ln/>
        </p:spPr>
      </p:sp>
      <p:pic>
        <p:nvPicPr>
          <p:cNvPr id="21" name="Trust icon 4" descr="Trust icon 4"/>
          <p:cNvPicPr>
            <a:picLocks noChangeAspect="1"/>
          </p:cNvPicPr>
          <p:nvPr/>
        </p:nvPicPr>
        <p:blipFill>
          <a:blip r:embed="rId6"/>
          <a:stretch>
            <a:fillRect/>
          </a:stretch>
        </p:blipFill>
        <p:spPr>
          <a:xfrm>
            <a:off x="6781190" y="4495190"/>
            <a:ext cx="336499" cy="336499"/>
          </a:xfrm>
          <a:prstGeom prst="rect">
            <a:avLst/>
          </a:prstGeom>
        </p:spPr>
      </p:pic>
      <p:sp>
        <p:nvSpPr>
          <p:cNvPr id="22" name="Trust title 4"/>
          <p:cNvSpPr txBox="1"/>
          <p:nvPr/>
        </p:nvSpPr>
        <p:spPr>
          <a:xfrm>
            <a:off x="7635240" y="4224528"/>
            <a:ext cx="3749040" cy="411480"/>
          </a:xfrm>
          <a:prstGeom prst="rect">
            <a:avLst/>
          </a:prstGeom>
          <a:noFill/>
          <a:ln/>
        </p:spPr>
        <p:txBody>
          <a:bodyPr wrap="square" lIns="0" tIns="0" rIns="0" bIns="0" rtlCol="0" anchor="t"/>
          <a:lstStyle/>
          <a:p>
            <a:pPr marL="0" indent="0">
              <a:buNone/>
            </a:pPr>
            <a:r>
              <a:rPr lang="en-US" sz="1900" b="1" dirty="0">
                <a:solidFill>
                  <a:schemeClr val="tx1"/>
                </a:solidFill>
              </a:rPr>
              <a:t>Retrieval controls format only</a:t>
            </a:r>
            <a:endParaRPr lang="en-US" sz="1900" dirty="0"/>
          </a:p>
        </p:txBody>
      </p:sp>
      <p:sp>
        <p:nvSpPr>
          <p:cNvPr id="23" name="Trust text 4"/>
          <p:cNvSpPr txBox="1"/>
          <p:nvPr/>
        </p:nvSpPr>
        <p:spPr>
          <a:xfrm>
            <a:off x="7635240" y="4709160"/>
            <a:ext cx="3749040" cy="1005840"/>
          </a:xfrm>
          <a:prstGeom prst="rect">
            <a:avLst/>
          </a:prstGeom>
          <a:noFill/>
          <a:ln/>
        </p:spPr>
        <p:txBody>
          <a:bodyPr wrap="square" lIns="0" tIns="0" rIns="0" bIns="0" rtlCol="0" anchor="t"/>
          <a:lstStyle/>
          <a:p>
            <a:pPr marL="0" indent="0">
              <a:buNone/>
            </a:pPr>
            <a:r>
              <a:rPr lang="en-US" sz="1500" dirty="0">
                <a:solidFill>
                  <a:schemeClr val="accent4"/>
                </a:solidFill>
              </a:rPr>
              <a:t>Pinecone supplies the template. Tests check that none of its content leaks in.</a:t>
            </a:r>
            <a:endParaRPr lang="en-US" sz="15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IN ACTION</a:t>
            </a:r>
            <a:endParaRPr lang="en-US" sz="1300" dirty="0"/>
          </a:p>
        </p:txBody>
      </p:sp>
      <p:sp>
        <p:nvSpPr>
          <p:cNvPr id="3" name="Text 1"/>
          <p:cNvSpPr>
            <a:spLocks noGrp="1"/>
          </p:cNvSpPr>
          <p:nvPr>
            <p:ph type="title" idx="102" hasCustomPrompt="1"/>
          </p:nvPr>
        </p:nvSpPr>
        <p:spPr>
          <a:xfrm>
            <a:off x="640080" y="713232"/>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Files in a Drive folder become PRD files</a:t>
            </a:r>
            <a:endParaRPr lang="en-US" sz="3400" dirty="0"/>
          </a:p>
        </p:txBody>
      </p:sp>
      <p:sp>
        <p:nvSpPr>
          <p:cNvPr id="4" name="Step card 1"/>
          <p:cNvSpPr/>
          <p:nvPr/>
        </p:nvSpPr>
        <p:spPr>
          <a:xfrm>
            <a:off x="640080" y="1783080"/>
            <a:ext cx="3154680" cy="3246120"/>
          </a:xfrm>
          <a:prstGeom prst="roundRect">
            <a:avLst>
              <a:gd name="adj" fmla="val 3478"/>
            </a:avLst>
          </a:prstGeom>
          <a:solidFill>
            <a:schemeClr val="bg1"/>
          </a:solidFill>
          <a:ln/>
          <a:effectLst>
            <a:outerShdw blurRad="127000" dist="25400" dir="5400000" algn="bl" rotWithShape="0">
              <a:srgbClr val="0F1E2E">
                <a:alpha val="14000"/>
              </a:srgbClr>
            </a:outerShdw>
          </a:effectLst>
        </p:spPr>
      </p:sp>
      <p:sp>
        <p:nvSpPr>
          <p:cNvPr id="5" name="Step icon 1 circle"/>
          <p:cNvSpPr/>
          <p:nvPr/>
        </p:nvSpPr>
        <p:spPr>
          <a:xfrm>
            <a:off x="960120" y="2103120"/>
            <a:ext cx="731520" cy="731520"/>
          </a:xfrm>
          <a:prstGeom prst="ellipse">
            <a:avLst/>
          </a:prstGeom>
          <a:solidFill>
            <a:schemeClr val="accent1"/>
          </a:solidFill>
          <a:ln/>
        </p:spPr>
      </p:sp>
      <p:pic>
        <p:nvPicPr>
          <p:cNvPr id="6" name="Step icon 1" descr="Step icon 1"/>
          <p:cNvPicPr>
            <a:picLocks noChangeAspect="1"/>
          </p:cNvPicPr>
          <p:nvPr/>
        </p:nvPicPr>
        <p:blipFill>
          <a:blip r:embed="rId3"/>
          <a:stretch>
            <a:fillRect/>
          </a:stretch>
        </p:blipFill>
        <p:spPr>
          <a:xfrm>
            <a:off x="1157630" y="2300630"/>
            <a:ext cx="336499" cy="336499"/>
          </a:xfrm>
          <a:prstGeom prst="rect">
            <a:avLst/>
          </a:prstGeom>
        </p:spPr>
      </p:pic>
      <p:sp>
        <p:nvSpPr>
          <p:cNvPr id="7" name="Step label 1"/>
          <p:cNvSpPr txBox="1"/>
          <p:nvPr/>
        </p:nvSpPr>
        <p:spPr>
          <a:xfrm>
            <a:off x="960120" y="3017520"/>
            <a:ext cx="2560320" cy="274320"/>
          </a:xfrm>
          <a:prstGeom prst="rect">
            <a:avLst/>
          </a:prstGeom>
          <a:noFill/>
          <a:ln/>
        </p:spPr>
        <p:txBody>
          <a:bodyPr wrap="square" lIns="0" tIns="0" rIns="0" bIns="0" rtlCol="0" anchor="t"/>
          <a:lstStyle/>
          <a:p>
            <a:pPr marL="0" indent="0">
              <a:buNone/>
            </a:pPr>
            <a:r>
              <a:rPr lang="en-US" sz="1300" b="1" kern="0" spc="200" dirty="0">
                <a:solidFill>
                  <a:schemeClr val="accent1"/>
                </a:solidFill>
              </a:rPr>
              <a:t>STEP 1</a:t>
            </a:r>
            <a:endParaRPr lang="en-US" sz="1300" dirty="0"/>
          </a:p>
        </p:txBody>
      </p:sp>
      <p:sp>
        <p:nvSpPr>
          <p:cNvPr id="8" name="Step title 1"/>
          <p:cNvSpPr txBox="1"/>
          <p:nvPr/>
        </p:nvSpPr>
        <p:spPr>
          <a:xfrm>
            <a:off x="960120" y="3337560"/>
            <a:ext cx="2560320" cy="457200"/>
          </a:xfrm>
          <a:prstGeom prst="rect">
            <a:avLst/>
          </a:prstGeom>
          <a:noFill/>
          <a:ln/>
        </p:spPr>
        <p:txBody>
          <a:bodyPr wrap="square" lIns="0" tIns="0" rIns="0" bIns="0" rtlCol="0" anchor="t"/>
          <a:lstStyle/>
          <a:p>
            <a:pPr marL="0" indent="0">
              <a:buNone/>
            </a:pPr>
            <a:r>
              <a:rPr lang="en-US" sz="2400" b="1" dirty="0">
                <a:solidFill>
                  <a:schemeClr val="tx1"/>
                </a:solidFill>
              </a:rPr>
              <a:t>Drop</a:t>
            </a:r>
            <a:endParaRPr lang="en-US" sz="2400" dirty="0"/>
          </a:p>
        </p:txBody>
      </p:sp>
      <p:sp>
        <p:nvSpPr>
          <p:cNvPr id="9" name="Step text 1"/>
          <p:cNvSpPr txBox="1"/>
          <p:nvPr/>
        </p:nvSpPr>
        <p:spPr>
          <a:xfrm>
            <a:off x="960120" y="3886200"/>
            <a:ext cx="2560320" cy="1005840"/>
          </a:xfrm>
          <a:prstGeom prst="rect">
            <a:avLst/>
          </a:prstGeom>
          <a:noFill/>
          <a:ln/>
        </p:spPr>
        <p:txBody>
          <a:bodyPr wrap="square" lIns="0" tIns="0" rIns="0" bIns="0" rtlCol="0" anchor="t"/>
          <a:lstStyle/>
          <a:p>
            <a:pPr marL="0" indent="0">
              <a:buNone/>
            </a:pPr>
            <a:r>
              <a:rPr lang="en-US" sz="1500" dirty="0">
                <a:solidFill>
                  <a:schemeClr val="accent4"/>
                </a:solidFill>
              </a:rPr>
              <a:t>Transcripts, notes, or briefs land in an Inbox folder.</a:t>
            </a:r>
            <a:endParaRPr lang="en-US" sz="1500" dirty="0"/>
          </a:p>
        </p:txBody>
      </p:sp>
      <p:sp>
        <p:nvSpPr>
          <p:cNvPr id="10" name="Arrow"/>
          <p:cNvSpPr/>
          <p:nvPr/>
        </p:nvSpPr>
        <p:spPr>
          <a:xfrm>
            <a:off x="3931920" y="3154680"/>
            <a:ext cx="457200" cy="411480"/>
          </a:xfrm>
          <a:prstGeom prst="rightArrow">
            <a:avLst/>
          </a:prstGeom>
          <a:solidFill>
            <a:schemeClr val="accent1"/>
          </a:solidFill>
          <a:ln/>
        </p:spPr>
      </p:sp>
      <p:sp>
        <p:nvSpPr>
          <p:cNvPr id="11" name="Step card 2"/>
          <p:cNvSpPr/>
          <p:nvPr/>
        </p:nvSpPr>
        <p:spPr>
          <a:xfrm>
            <a:off x="4526280" y="1783080"/>
            <a:ext cx="3154680" cy="3246120"/>
          </a:xfrm>
          <a:prstGeom prst="roundRect">
            <a:avLst>
              <a:gd name="adj" fmla="val 3478"/>
            </a:avLst>
          </a:prstGeom>
          <a:solidFill>
            <a:schemeClr val="bg1"/>
          </a:solidFill>
          <a:ln/>
          <a:effectLst>
            <a:outerShdw blurRad="127000" dist="25400" dir="5400000" algn="bl" rotWithShape="0">
              <a:srgbClr val="0F1E2E">
                <a:alpha val="14000"/>
              </a:srgbClr>
            </a:outerShdw>
          </a:effectLst>
        </p:spPr>
      </p:sp>
      <p:sp>
        <p:nvSpPr>
          <p:cNvPr id="12" name="Step icon 2 circle"/>
          <p:cNvSpPr/>
          <p:nvPr/>
        </p:nvSpPr>
        <p:spPr>
          <a:xfrm>
            <a:off x="4846320" y="2103120"/>
            <a:ext cx="731520" cy="731520"/>
          </a:xfrm>
          <a:prstGeom prst="ellipse">
            <a:avLst/>
          </a:prstGeom>
          <a:solidFill>
            <a:schemeClr val="accent1"/>
          </a:solidFill>
          <a:ln/>
        </p:spPr>
      </p:sp>
      <p:pic>
        <p:nvPicPr>
          <p:cNvPr id="13" name="Step icon 2" descr="Step icon 2"/>
          <p:cNvPicPr>
            <a:picLocks noChangeAspect="1"/>
          </p:cNvPicPr>
          <p:nvPr/>
        </p:nvPicPr>
        <p:blipFill>
          <a:blip r:embed="rId4"/>
          <a:stretch>
            <a:fillRect/>
          </a:stretch>
        </p:blipFill>
        <p:spPr>
          <a:xfrm>
            <a:off x="5043830" y="2300630"/>
            <a:ext cx="336499" cy="336499"/>
          </a:xfrm>
          <a:prstGeom prst="rect">
            <a:avLst/>
          </a:prstGeom>
        </p:spPr>
      </p:pic>
      <p:sp>
        <p:nvSpPr>
          <p:cNvPr id="14" name="Step label 2"/>
          <p:cNvSpPr txBox="1"/>
          <p:nvPr/>
        </p:nvSpPr>
        <p:spPr>
          <a:xfrm>
            <a:off x="4846320" y="3017520"/>
            <a:ext cx="2560320" cy="274320"/>
          </a:xfrm>
          <a:prstGeom prst="rect">
            <a:avLst/>
          </a:prstGeom>
          <a:noFill/>
          <a:ln/>
        </p:spPr>
        <p:txBody>
          <a:bodyPr wrap="square" lIns="0" tIns="0" rIns="0" bIns="0" rtlCol="0" anchor="t"/>
          <a:lstStyle/>
          <a:p>
            <a:pPr marL="0" indent="0">
              <a:buNone/>
            </a:pPr>
            <a:r>
              <a:rPr lang="en-US" sz="1300" b="1" kern="0" spc="200" dirty="0">
                <a:solidFill>
                  <a:schemeClr val="accent1"/>
                </a:solidFill>
              </a:rPr>
              <a:t>STEP 2</a:t>
            </a:r>
            <a:endParaRPr lang="en-US" sz="1300" dirty="0"/>
          </a:p>
        </p:txBody>
      </p:sp>
      <p:sp>
        <p:nvSpPr>
          <p:cNvPr id="15" name="Step title 2"/>
          <p:cNvSpPr txBox="1"/>
          <p:nvPr/>
        </p:nvSpPr>
        <p:spPr>
          <a:xfrm>
            <a:off x="4846320" y="3337560"/>
            <a:ext cx="2560320" cy="457200"/>
          </a:xfrm>
          <a:prstGeom prst="rect">
            <a:avLst/>
          </a:prstGeom>
          <a:noFill/>
          <a:ln/>
        </p:spPr>
        <p:txBody>
          <a:bodyPr wrap="square" lIns="0" tIns="0" rIns="0" bIns="0" rtlCol="0" anchor="t"/>
          <a:lstStyle/>
          <a:p>
            <a:pPr marL="0" indent="0">
              <a:buNone/>
            </a:pPr>
            <a:r>
              <a:rPr lang="en-US" sz="2400" b="1" dirty="0">
                <a:solidFill>
                  <a:schemeClr val="tx1"/>
                </a:solidFill>
              </a:rPr>
              <a:t>Process</a:t>
            </a:r>
            <a:endParaRPr lang="en-US" sz="2400" dirty="0"/>
          </a:p>
        </p:txBody>
      </p:sp>
      <p:sp>
        <p:nvSpPr>
          <p:cNvPr id="16" name="Step text 2"/>
          <p:cNvSpPr txBox="1"/>
          <p:nvPr/>
        </p:nvSpPr>
        <p:spPr>
          <a:xfrm>
            <a:off x="4846320" y="3886200"/>
            <a:ext cx="2560320" cy="1005840"/>
          </a:xfrm>
          <a:prstGeom prst="rect">
            <a:avLst/>
          </a:prstGeom>
          <a:noFill/>
          <a:ln/>
        </p:spPr>
        <p:txBody>
          <a:bodyPr wrap="square" lIns="0" tIns="0" rIns="0" bIns="0" rtlCol="0" anchor="t"/>
          <a:lstStyle/>
          <a:p>
            <a:pPr marL="0" indent="0">
              <a:buNone/>
            </a:pPr>
            <a:r>
              <a:rPr lang="en-US" sz="1500" dirty="0">
                <a:solidFill>
                  <a:schemeClr val="accent4"/>
                </a:solidFill>
              </a:rPr>
              <a:t>Each file runs through the full pipeline, one at a time.</a:t>
            </a:r>
            <a:endParaRPr lang="en-US" sz="1500" dirty="0"/>
          </a:p>
        </p:txBody>
      </p:sp>
      <p:sp>
        <p:nvSpPr>
          <p:cNvPr id="17" name="Arrow"/>
          <p:cNvSpPr/>
          <p:nvPr/>
        </p:nvSpPr>
        <p:spPr>
          <a:xfrm>
            <a:off x="7818120" y="3154680"/>
            <a:ext cx="457200" cy="411480"/>
          </a:xfrm>
          <a:prstGeom prst="rightArrow">
            <a:avLst/>
          </a:prstGeom>
          <a:solidFill>
            <a:schemeClr val="accent1"/>
          </a:solidFill>
          <a:ln/>
        </p:spPr>
      </p:sp>
      <p:sp>
        <p:nvSpPr>
          <p:cNvPr id="18" name="Step card 3"/>
          <p:cNvSpPr/>
          <p:nvPr/>
        </p:nvSpPr>
        <p:spPr>
          <a:xfrm>
            <a:off x="8412480" y="1783080"/>
            <a:ext cx="3154680" cy="3246120"/>
          </a:xfrm>
          <a:prstGeom prst="roundRect">
            <a:avLst>
              <a:gd name="adj" fmla="val 3478"/>
            </a:avLst>
          </a:prstGeom>
          <a:solidFill>
            <a:schemeClr val="bg1"/>
          </a:solidFill>
          <a:ln/>
          <a:effectLst>
            <a:outerShdw blurRad="127000" dist="25400" dir="5400000" algn="bl" rotWithShape="0">
              <a:srgbClr val="0F1E2E">
                <a:alpha val="14000"/>
              </a:srgbClr>
            </a:outerShdw>
          </a:effectLst>
        </p:spPr>
      </p:sp>
      <p:sp>
        <p:nvSpPr>
          <p:cNvPr id="19" name="Step icon 3 circle"/>
          <p:cNvSpPr/>
          <p:nvPr/>
        </p:nvSpPr>
        <p:spPr>
          <a:xfrm>
            <a:off x="8732520" y="2103120"/>
            <a:ext cx="731520" cy="731520"/>
          </a:xfrm>
          <a:prstGeom prst="ellipse">
            <a:avLst/>
          </a:prstGeom>
          <a:solidFill>
            <a:schemeClr val="accent1"/>
          </a:solidFill>
          <a:ln/>
        </p:spPr>
      </p:sp>
      <p:pic>
        <p:nvPicPr>
          <p:cNvPr id="20" name="Step icon 3" descr="Step icon 3"/>
          <p:cNvPicPr>
            <a:picLocks noChangeAspect="1"/>
          </p:cNvPicPr>
          <p:nvPr/>
        </p:nvPicPr>
        <p:blipFill>
          <a:blip r:embed="rId5"/>
          <a:stretch>
            <a:fillRect/>
          </a:stretch>
        </p:blipFill>
        <p:spPr>
          <a:xfrm>
            <a:off x="8930030" y="2300630"/>
            <a:ext cx="336499" cy="336499"/>
          </a:xfrm>
          <a:prstGeom prst="rect">
            <a:avLst/>
          </a:prstGeom>
        </p:spPr>
      </p:pic>
      <p:sp>
        <p:nvSpPr>
          <p:cNvPr id="21" name="Step label 3"/>
          <p:cNvSpPr txBox="1"/>
          <p:nvPr/>
        </p:nvSpPr>
        <p:spPr>
          <a:xfrm>
            <a:off x="8732520" y="3017520"/>
            <a:ext cx="2560320" cy="274320"/>
          </a:xfrm>
          <a:prstGeom prst="rect">
            <a:avLst/>
          </a:prstGeom>
          <a:noFill/>
          <a:ln/>
        </p:spPr>
        <p:txBody>
          <a:bodyPr wrap="square" lIns="0" tIns="0" rIns="0" bIns="0" rtlCol="0" anchor="t"/>
          <a:lstStyle/>
          <a:p>
            <a:pPr marL="0" indent="0">
              <a:buNone/>
            </a:pPr>
            <a:r>
              <a:rPr lang="en-US" sz="1300" b="1" kern="0" spc="200" dirty="0">
                <a:solidFill>
                  <a:schemeClr val="accent1"/>
                </a:solidFill>
              </a:rPr>
              <a:t>STEP 3</a:t>
            </a:r>
            <a:endParaRPr lang="en-US" sz="1300" dirty="0"/>
          </a:p>
        </p:txBody>
      </p:sp>
      <p:sp>
        <p:nvSpPr>
          <p:cNvPr id="22" name="Step title 3"/>
          <p:cNvSpPr txBox="1"/>
          <p:nvPr/>
        </p:nvSpPr>
        <p:spPr>
          <a:xfrm>
            <a:off x="8732520" y="3337560"/>
            <a:ext cx="2560320" cy="457200"/>
          </a:xfrm>
          <a:prstGeom prst="rect">
            <a:avLst/>
          </a:prstGeom>
          <a:noFill/>
          <a:ln/>
        </p:spPr>
        <p:txBody>
          <a:bodyPr wrap="square" lIns="0" tIns="0" rIns="0" bIns="0" rtlCol="0" anchor="t"/>
          <a:lstStyle/>
          <a:p>
            <a:pPr marL="0" indent="0">
              <a:buNone/>
            </a:pPr>
            <a:r>
              <a:rPr lang="en-US" sz="2400" b="1" dirty="0">
                <a:solidFill>
                  <a:schemeClr val="tx1"/>
                </a:solidFill>
              </a:rPr>
              <a:t>Review</a:t>
            </a:r>
            <a:endParaRPr lang="en-US" sz="2400" dirty="0"/>
          </a:p>
        </p:txBody>
      </p:sp>
      <p:sp>
        <p:nvSpPr>
          <p:cNvPr id="23" name="Step text 3"/>
          <p:cNvSpPr txBox="1"/>
          <p:nvPr/>
        </p:nvSpPr>
        <p:spPr>
          <a:xfrm>
            <a:off x="8732520" y="3886200"/>
            <a:ext cx="2560320" cy="1005840"/>
          </a:xfrm>
          <a:prstGeom prst="rect">
            <a:avLst/>
          </a:prstGeom>
          <a:noFill/>
          <a:ln/>
        </p:spPr>
        <p:txBody>
          <a:bodyPr wrap="square" lIns="0" tIns="0" rIns="0" bIns="0" rtlCol="0" anchor="t"/>
          <a:lstStyle/>
          <a:p>
            <a:pPr marL="0" indent="0">
              <a:buNone/>
            </a:pPr>
            <a:r>
              <a:rPr lang="en-US" sz="1500" dirty="0">
                <a:solidFill>
                  <a:schemeClr val="accent4"/>
                </a:solidFill>
              </a:rPr>
              <a:t>A PRD file appears in the Outputs folder, with epics, stories, and gap analysis.</a:t>
            </a:r>
            <a:endParaRPr lang="en-US" sz="1500" dirty="0"/>
          </a:p>
        </p:txBody>
      </p:sp>
      <p:sp>
        <p:nvSpPr>
          <p:cNvPr id="24" name="Drive result"/>
          <p:cNvSpPr txBox="1"/>
          <p:nvPr/>
        </p:nvSpPr>
        <p:spPr>
          <a:xfrm>
            <a:off x="640080" y="5440680"/>
            <a:ext cx="10881360" cy="457200"/>
          </a:xfrm>
          <a:prstGeom prst="rect">
            <a:avLst/>
          </a:prstGeom>
          <a:noFill/>
          <a:ln/>
        </p:spPr>
        <p:txBody>
          <a:bodyPr wrap="square" lIns="0" tIns="0" rIns="0" bIns="0" rtlCol="0" anchor="t"/>
          <a:lstStyle/>
          <a:p>
            <a:pPr marL="0" indent="0">
              <a:buNone/>
            </a:pPr>
            <a:r>
              <a:rPr lang="en-US" sz="2000" b="1" dirty="0">
                <a:solidFill>
                  <a:schemeClr val="tx1"/>
                </a:solidFill>
              </a:rPr>
              <a:t>Tested with three files in and three PRD files out.</a:t>
            </a:r>
            <a:endParaRPr lang="en-US" sz="20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bg2"/>
                </a:solidFill>
              </a:rPr>
              <a:t>EVIDENCE</a:t>
            </a:r>
            <a:endParaRPr lang="en-US" sz="1300" dirty="0"/>
          </a:p>
        </p:txBody>
      </p:sp>
      <p:sp>
        <p:nvSpPr>
          <p:cNvPr id="3" name="Big number"/>
          <p:cNvSpPr txBox="1"/>
          <p:nvPr/>
        </p:nvSpPr>
        <p:spPr>
          <a:xfrm>
            <a:off x="640080" y="1097280"/>
            <a:ext cx="6583680" cy="2377440"/>
          </a:xfrm>
          <a:prstGeom prst="rect">
            <a:avLst/>
          </a:prstGeom>
          <a:noFill/>
          <a:ln/>
        </p:spPr>
        <p:txBody>
          <a:bodyPr wrap="square" lIns="0" tIns="0" rIns="0" bIns="0" rtlCol="0" anchor="ctr"/>
          <a:lstStyle/>
          <a:p>
            <a:pPr marL="0" indent="0">
              <a:buNone/>
            </a:pPr>
            <a:r>
              <a:rPr lang="en-US" sz="15000" b="1" dirty="0">
                <a:solidFill>
                  <a:schemeClr val="bg1"/>
                </a:solidFill>
              </a:rPr>
              <a:t>12/12</a:t>
            </a:r>
            <a:endParaRPr lang="en-US" sz="15000" dirty="0"/>
          </a:p>
        </p:txBody>
      </p:sp>
      <p:sp>
        <p:nvSpPr>
          <p:cNvPr id="4" name="Big number label"/>
          <p:cNvSpPr txBox="1"/>
          <p:nvPr/>
        </p:nvSpPr>
        <p:spPr>
          <a:xfrm>
            <a:off x="7315200" y="2331720"/>
            <a:ext cx="4206240" cy="822960"/>
          </a:xfrm>
          <a:prstGeom prst="rect">
            <a:avLst/>
          </a:prstGeom>
          <a:noFill/>
          <a:ln/>
        </p:spPr>
        <p:txBody>
          <a:bodyPr wrap="square" lIns="0" tIns="0" rIns="0" bIns="0" rtlCol="0" anchor="ctr"/>
          <a:lstStyle/>
          <a:p>
            <a:pPr marL="0" indent="0">
              <a:buNone/>
            </a:pPr>
            <a:r>
              <a:rPr lang="en-US" sz="3000" dirty="0">
                <a:solidFill>
                  <a:schemeClr val="bg1"/>
                </a:solidFill>
              </a:rPr>
              <a:t>baseline tests passing</a:t>
            </a:r>
            <a:endParaRPr lang="en-US" sz="3000" dirty="0"/>
          </a:p>
        </p:txBody>
      </p:sp>
      <p:sp>
        <p:nvSpPr>
          <p:cNvPr id="5" name="Run pill 1"/>
          <p:cNvSpPr/>
          <p:nvPr/>
        </p:nvSpPr>
        <p:spPr>
          <a:xfrm>
            <a:off x="640080" y="3749040"/>
            <a:ext cx="2011680" cy="548640"/>
          </a:xfrm>
          <a:prstGeom prst="roundRect">
            <a:avLst>
              <a:gd name="adj" fmla="val 50000"/>
            </a:avLst>
          </a:prstGeom>
          <a:solidFill>
            <a:schemeClr val="accent6"/>
          </a:solidFill>
          <a:ln w="12700">
            <a:solidFill>
              <a:schemeClr val="accent2"/>
            </a:solidFill>
            <a:prstDash val="solid"/>
          </a:ln>
        </p:spPr>
      </p:sp>
      <p:sp>
        <p:nvSpPr>
          <p:cNvPr id="6" name="Run label 1"/>
          <p:cNvSpPr txBox="1"/>
          <p:nvPr/>
        </p:nvSpPr>
        <p:spPr>
          <a:xfrm>
            <a:off x="640080" y="3749040"/>
            <a:ext cx="2011680" cy="548640"/>
          </a:xfrm>
          <a:prstGeom prst="rect">
            <a:avLst/>
          </a:prstGeom>
          <a:noFill/>
          <a:ln/>
        </p:spPr>
        <p:txBody>
          <a:bodyPr wrap="square" lIns="0" tIns="0" rIns="0" bIns="0" rtlCol="0" anchor="ctr"/>
          <a:lstStyle/>
          <a:p>
            <a:pPr marL="0" indent="0" algn="ctr">
              <a:buNone/>
            </a:pPr>
            <a:r>
              <a:rPr lang="en-US" sz="1500" b="1" dirty="0">
                <a:solidFill>
                  <a:schemeClr val="bg1"/>
                </a:solidFill>
              </a:rPr>
              <a:t>Run 1 · 9/12</a:t>
            </a:r>
            <a:endParaRPr lang="en-US" sz="1500" dirty="0"/>
          </a:p>
        </p:txBody>
      </p:sp>
      <p:sp>
        <p:nvSpPr>
          <p:cNvPr id="7" name="Run pill 2"/>
          <p:cNvSpPr/>
          <p:nvPr/>
        </p:nvSpPr>
        <p:spPr>
          <a:xfrm>
            <a:off x="2834640" y="3749040"/>
            <a:ext cx="2011680" cy="548640"/>
          </a:xfrm>
          <a:prstGeom prst="roundRect">
            <a:avLst>
              <a:gd name="adj" fmla="val 50000"/>
            </a:avLst>
          </a:prstGeom>
          <a:solidFill>
            <a:schemeClr val="accent6"/>
          </a:solidFill>
          <a:ln w="12700">
            <a:solidFill>
              <a:schemeClr val="accent2"/>
            </a:solidFill>
            <a:prstDash val="solid"/>
          </a:ln>
        </p:spPr>
      </p:sp>
      <p:sp>
        <p:nvSpPr>
          <p:cNvPr id="8" name="Run label 2"/>
          <p:cNvSpPr txBox="1"/>
          <p:nvPr/>
        </p:nvSpPr>
        <p:spPr>
          <a:xfrm>
            <a:off x="2834640" y="3749040"/>
            <a:ext cx="2011680" cy="548640"/>
          </a:xfrm>
          <a:prstGeom prst="rect">
            <a:avLst/>
          </a:prstGeom>
          <a:noFill/>
          <a:ln/>
        </p:spPr>
        <p:txBody>
          <a:bodyPr wrap="square" lIns="0" tIns="0" rIns="0" bIns="0" rtlCol="0" anchor="ctr"/>
          <a:lstStyle/>
          <a:p>
            <a:pPr marL="0" indent="0" algn="ctr">
              <a:buNone/>
            </a:pPr>
            <a:r>
              <a:rPr lang="en-US" sz="1500" b="1" dirty="0">
                <a:solidFill>
                  <a:schemeClr val="bg1"/>
                </a:solidFill>
              </a:rPr>
              <a:t>Run 2 · 11/12</a:t>
            </a:r>
            <a:endParaRPr lang="en-US" sz="1500" dirty="0"/>
          </a:p>
        </p:txBody>
      </p:sp>
      <p:sp>
        <p:nvSpPr>
          <p:cNvPr id="9" name="Run pill 3"/>
          <p:cNvSpPr/>
          <p:nvPr/>
        </p:nvSpPr>
        <p:spPr>
          <a:xfrm>
            <a:off x="5029200" y="3749040"/>
            <a:ext cx="2011680" cy="548640"/>
          </a:xfrm>
          <a:prstGeom prst="roundRect">
            <a:avLst>
              <a:gd name="adj" fmla="val 50000"/>
            </a:avLst>
          </a:prstGeom>
          <a:solidFill>
            <a:schemeClr val="accent6"/>
          </a:solidFill>
          <a:ln w="12700">
            <a:solidFill>
              <a:schemeClr val="accent2"/>
            </a:solidFill>
            <a:prstDash val="solid"/>
          </a:ln>
        </p:spPr>
      </p:sp>
      <p:sp>
        <p:nvSpPr>
          <p:cNvPr id="10" name="Run label 3"/>
          <p:cNvSpPr txBox="1"/>
          <p:nvPr/>
        </p:nvSpPr>
        <p:spPr>
          <a:xfrm>
            <a:off x="5029200" y="3749040"/>
            <a:ext cx="2011680" cy="548640"/>
          </a:xfrm>
          <a:prstGeom prst="rect">
            <a:avLst/>
          </a:prstGeom>
          <a:noFill/>
          <a:ln/>
        </p:spPr>
        <p:txBody>
          <a:bodyPr wrap="square" lIns="0" tIns="0" rIns="0" bIns="0" rtlCol="0" anchor="ctr"/>
          <a:lstStyle/>
          <a:p>
            <a:pPr marL="0" indent="0" algn="ctr">
              <a:buNone/>
            </a:pPr>
            <a:r>
              <a:rPr lang="en-US" sz="1500" b="1" dirty="0">
                <a:solidFill>
                  <a:schemeClr val="bg1"/>
                </a:solidFill>
              </a:rPr>
              <a:t>Run 3 · 12/12</a:t>
            </a:r>
            <a:endParaRPr lang="en-US" sz="1500" dirty="0"/>
          </a:p>
        </p:txBody>
      </p:sp>
      <p:sp>
        <p:nvSpPr>
          <p:cNvPr id="11" name="Run pill 4"/>
          <p:cNvSpPr/>
          <p:nvPr/>
        </p:nvSpPr>
        <p:spPr>
          <a:xfrm>
            <a:off x="7223760" y="3749040"/>
            <a:ext cx="2011680" cy="548640"/>
          </a:xfrm>
          <a:prstGeom prst="roundRect">
            <a:avLst>
              <a:gd name="adj" fmla="val 50000"/>
            </a:avLst>
          </a:prstGeom>
          <a:solidFill>
            <a:schemeClr val="accent6"/>
          </a:solidFill>
          <a:ln w="12700">
            <a:solidFill>
              <a:schemeClr val="accent2"/>
            </a:solidFill>
            <a:prstDash val="solid"/>
          </a:ln>
        </p:spPr>
      </p:sp>
      <p:sp>
        <p:nvSpPr>
          <p:cNvPr id="12" name="Run label 4"/>
          <p:cNvSpPr txBox="1"/>
          <p:nvPr/>
        </p:nvSpPr>
        <p:spPr>
          <a:xfrm>
            <a:off x="7223760" y="3749040"/>
            <a:ext cx="2011680" cy="548640"/>
          </a:xfrm>
          <a:prstGeom prst="rect">
            <a:avLst/>
          </a:prstGeom>
          <a:noFill/>
          <a:ln/>
        </p:spPr>
        <p:txBody>
          <a:bodyPr wrap="square" lIns="0" tIns="0" rIns="0" bIns="0" rtlCol="0" anchor="ctr"/>
          <a:lstStyle/>
          <a:p>
            <a:pPr marL="0" indent="0" algn="ctr">
              <a:buNone/>
            </a:pPr>
            <a:r>
              <a:rPr lang="en-US" sz="1500" b="1" dirty="0">
                <a:solidFill>
                  <a:schemeClr val="bg1"/>
                </a:solidFill>
              </a:rPr>
              <a:t>With RAG · 12/12</a:t>
            </a:r>
            <a:endParaRPr lang="en-US" sz="1500" dirty="0"/>
          </a:p>
        </p:txBody>
      </p:sp>
      <p:sp>
        <p:nvSpPr>
          <p:cNvPr id="13" name="Run pill 5"/>
          <p:cNvSpPr/>
          <p:nvPr/>
        </p:nvSpPr>
        <p:spPr>
          <a:xfrm>
            <a:off x="9418320" y="3749040"/>
            <a:ext cx="2011680" cy="548640"/>
          </a:xfrm>
          <a:prstGeom prst="roundRect">
            <a:avLst>
              <a:gd name="adj" fmla="val 50000"/>
            </a:avLst>
          </a:prstGeom>
          <a:solidFill>
            <a:schemeClr val="accent6"/>
          </a:solidFill>
          <a:ln w="12700">
            <a:solidFill>
              <a:schemeClr val="accent2"/>
            </a:solidFill>
            <a:prstDash val="solid"/>
          </a:ln>
        </p:spPr>
      </p:sp>
      <p:sp>
        <p:nvSpPr>
          <p:cNvPr id="14" name="Run label 5"/>
          <p:cNvSpPr txBox="1"/>
          <p:nvPr/>
        </p:nvSpPr>
        <p:spPr>
          <a:xfrm>
            <a:off x="9418320" y="3749040"/>
            <a:ext cx="2011680" cy="548640"/>
          </a:xfrm>
          <a:prstGeom prst="rect">
            <a:avLst/>
          </a:prstGeom>
          <a:noFill/>
          <a:ln/>
        </p:spPr>
        <p:txBody>
          <a:bodyPr wrap="square" lIns="0" tIns="0" rIns="0" bIns="0" rtlCol="0" anchor="ctr"/>
          <a:lstStyle/>
          <a:p>
            <a:pPr marL="0" indent="0" algn="ctr">
              <a:buNone/>
            </a:pPr>
            <a:r>
              <a:rPr lang="en-US" sz="1500" b="1" dirty="0">
                <a:solidFill>
                  <a:schemeClr val="bg1"/>
                </a:solidFill>
              </a:rPr>
              <a:t>Final · 12/12</a:t>
            </a:r>
            <a:endParaRPr lang="en-US" sz="1500" dirty="0"/>
          </a:p>
        </p:txBody>
      </p:sp>
      <p:sp>
        <p:nvSpPr>
          <p:cNvPr id="15" name="Evidence caveat"/>
          <p:cNvSpPr txBox="1"/>
          <p:nvPr/>
        </p:nvSpPr>
        <p:spPr>
          <a:xfrm>
            <a:off x="640080" y="4754880"/>
            <a:ext cx="10241280" cy="1097280"/>
          </a:xfrm>
          <a:prstGeom prst="rect">
            <a:avLst/>
          </a:prstGeom>
          <a:noFill/>
          <a:ln/>
        </p:spPr>
        <p:txBody>
          <a:bodyPr wrap="square" lIns="0" tIns="0" rIns="0" bIns="0" rtlCol="0" anchor="t"/>
          <a:lstStyle/>
          <a:p>
            <a:pPr marL="0" indent="0">
              <a:buNone/>
            </a:pPr>
            <a:r>
              <a:rPr lang="en-US" sz="1800" dirty="0">
                <a:solidFill>
                  <a:schemeClr val="bg2"/>
                </a:solidFill>
              </a:rPr>
              <a:t>Each failure named its cause and was fixed with one prompt rule. The prompts were tuned on these same tests, so this shows the baseline is met, not that the system generalizes.</a:t>
            </a:r>
            <a:endParaRPr lang="en-US" sz="18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bg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WHAT THE TRACES TAUGHT ME</a:t>
            </a:r>
            <a:endParaRPr lang="en-US" sz="1300" dirty="0"/>
          </a:p>
        </p:txBody>
      </p:sp>
      <p:sp>
        <p:nvSpPr>
          <p:cNvPr id="3" name="Text 1"/>
          <p:cNvSpPr>
            <a:spLocks noGrp="1"/>
          </p:cNvSpPr>
          <p:nvPr>
            <p:ph type="title" idx="102" hasCustomPrompt="1"/>
          </p:nvPr>
        </p:nvSpPr>
        <p:spPr>
          <a:xfrm>
            <a:off x="640080" y="713232"/>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Green dashboards can hide wrong answers</a:t>
            </a:r>
            <a:endParaRPr lang="en-US" sz="3400" dirty="0"/>
          </a:p>
        </p:txBody>
      </p:sp>
      <p:sp>
        <p:nvSpPr>
          <p:cNvPr id="4" name="Lesson card 1"/>
          <p:cNvSpPr/>
          <p:nvPr/>
        </p:nvSpPr>
        <p:spPr>
          <a:xfrm>
            <a:off x="640080" y="1783080"/>
            <a:ext cx="3456432" cy="3657600"/>
          </a:xfrm>
          <a:prstGeom prst="roundRect">
            <a:avLst>
              <a:gd name="adj" fmla="val 3175"/>
            </a:avLst>
          </a:prstGeom>
          <a:solidFill>
            <a:schemeClr val="bg1"/>
          </a:solidFill>
          <a:ln/>
          <a:effectLst>
            <a:outerShdw blurRad="127000" dist="25400" dir="5400000" algn="bl" rotWithShape="0">
              <a:srgbClr val="0F1E2E">
                <a:alpha val="14000"/>
              </a:srgbClr>
            </a:outerShdw>
          </a:effectLst>
        </p:spPr>
      </p:sp>
      <p:sp>
        <p:nvSpPr>
          <p:cNvPr id="5" name="Lesson icon 1 circle"/>
          <p:cNvSpPr/>
          <p:nvPr/>
        </p:nvSpPr>
        <p:spPr>
          <a:xfrm>
            <a:off x="960120" y="2103120"/>
            <a:ext cx="731520" cy="731520"/>
          </a:xfrm>
          <a:prstGeom prst="ellipse">
            <a:avLst/>
          </a:prstGeom>
          <a:solidFill>
            <a:schemeClr val="accent1"/>
          </a:solidFill>
          <a:ln/>
        </p:spPr>
      </p:sp>
      <p:pic>
        <p:nvPicPr>
          <p:cNvPr id="6" name="Lesson icon 1" descr="Lesson icon 1"/>
          <p:cNvPicPr>
            <a:picLocks noChangeAspect="1"/>
          </p:cNvPicPr>
          <p:nvPr/>
        </p:nvPicPr>
        <p:blipFill>
          <a:blip r:embed="rId3"/>
          <a:stretch>
            <a:fillRect/>
          </a:stretch>
        </p:blipFill>
        <p:spPr>
          <a:xfrm>
            <a:off x="1157630" y="2300630"/>
            <a:ext cx="336499" cy="336499"/>
          </a:xfrm>
          <a:prstGeom prst="rect">
            <a:avLst/>
          </a:prstGeom>
        </p:spPr>
      </p:pic>
      <p:sp>
        <p:nvSpPr>
          <p:cNvPr id="7" name="Lesson title 1"/>
          <p:cNvSpPr txBox="1"/>
          <p:nvPr/>
        </p:nvSpPr>
        <p:spPr>
          <a:xfrm>
            <a:off x="960120" y="3108960"/>
            <a:ext cx="2834640" cy="777240"/>
          </a:xfrm>
          <a:prstGeom prst="rect">
            <a:avLst/>
          </a:prstGeom>
          <a:noFill/>
          <a:ln/>
        </p:spPr>
        <p:txBody>
          <a:bodyPr wrap="square" lIns="0" tIns="0" rIns="0" bIns="0" rtlCol="0" anchor="t"/>
          <a:lstStyle/>
          <a:p>
            <a:pPr marL="0" indent="0">
              <a:buNone/>
            </a:pPr>
            <a:r>
              <a:rPr lang="en-US" sz="2100" b="1" dirty="0">
                <a:solidFill>
                  <a:schemeClr val="tx1"/>
                </a:solidFill>
              </a:rPr>
              <a:t>One missing quote mark</a:t>
            </a:r>
            <a:endParaRPr lang="en-US" sz="2100" dirty="0"/>
          </a:p>
        </p:txBody>
      </p:sp>
      <p:sp>
        <p:nvSpPr>
          <p:cNvPr id="8" name="Lesson text 1"/>
          <p:cNvSpPr txBox="1"/>
          <p:nvPr/>
        </p:nvSpPr>
        <p:spPr>
          <a:xfrm>
            <a:off x="960120" y="3931920"/>
            <a:ext cx="2834640" cy="1371600"/>
          </a:xfrm>
          <a:prstGeom prst="rect">
            <a:avLst/>
          </a:prstGeom>
          <a:noFill/>
          <a:ln/>
        </p:spPr>
        <p:txBody>
          <a:bodyPr wrap="square" lIns="0" tIns="0" rIns="0" bIns="0" rtlCol="0" anchor="t"/>
          <a:lstStyle/>
          <a:p>
            <a:pPr marL="0" indent="0">
              <a:buNone/>
            </a:pPr>
            <a:r>
              <a:rPr lang="en-US" sz="1500" dirty="0">
                <a:solidFill>
                  <a:schemeClr val="accent4"/>
                </a:solidFill>
              </a:rPr>
              <a:t>A single JSON slip produced a blank PRD while the trace looked normal. Now a repair step and a safe fallback handle it.</a:t>
            </a:r>
            <a:endParaRPr lang="en-US" sz="1500" dirty="0"/>
          </a:p>
        </p:txBody>
      </p:sp>
      <p:sp>
        <p:nvSpPr>
          <p:cNvPr id="9" name="Lesson card 2"/>
          <p:cNvSpPr/>
          <p:nvPr/>
        </p:nvSpPr>
        <p:spPr>
          <a:xfrm>
            <a:off x="4370832" y="1783080"/>
            <a:ext cx="3456432" cy="3657600"/>
          </a:xfrm>
          <a:prstGeom prst="roundRect">
            <a:avLst>
              <a:gd name="adj" fmla="val 3175"/>
            </a:avLst>
          </a:prstGeom>
          <a:solidFill>
            <a:schemeClr val="bg1"/>
          </a:solidFill>
          <a:ln/>
          <a:effectLst>
            <a:outerShdw blurRad="127000" dist="25400" dir="5400000" algn="bl" rotWithShape="0">
              <a:srgbClr val="0F1E2E">
                <a:alpha val="14000"/>
              </a:srgbClr>
            </a:outerShdw>
          </a:effectLst>
        </p:spPr>
      </p:sp>
      <p:sp>
        <p:nvSpPr>
          <p:cNvPr id="10" name="Lesson icon 2 circle"/>
          <p:cNvSpPr/>
          <p:nvPr/>
        </p:nvSpPr>
        <p:spPr>
          <a:xfrm>
            <a:off x="4690872" y="2103120"/>
            <a:ext cx="731520" cy="731520"/>
          </a:xfrm>
          <a:prstGeom prst="ellipse">
            <a:avLst/>
          </a:prstGeom>
          <a:solidFill>
            <a:schemeClr val="accent1"/>
          </a:solidFill>
          <a:ln/>
        </p:spPr>
      </p:sp>
      <p:pic>
        <p:nvPicPr>
          <p:cNvPr id="11" name="Lesson icon 2" descr="Lesson icon 2"/>
          <p:cNvPicPr>
            <a:picLocks noChangeAspect="1"/>
          </p:cNvPicPr>
          <p:nvPr/>
        </p:nvPicPr>
        <p:blipFill>
          <a:blip r:embed="rId4"/>
          <a:stretch>
            <a:fillRect/>
          </a:stretch>
        </p:blipFill>
        <p:spPr>
          <a:xfrm>
            <a:off x="4888382" y="2300630"/>
            <a:ext cx="336499" cy="336499"/>
          </a:xfrm>
          <a:prstGeom prst="rect">
            <a:avLst/>
          </a:prstGeom>
        </p:spPr>
      </p:pic>
      <p:sp>
        <p:nvSpPr>
          <p:cNvPr id="12" name="Lesson title 2"/>
          <p:cNvSpPr txBox="1"/>
          <p:nvPr/>
        </p:nvSpPr>
        <p:spPr>
          <a:xfrm>
            <a:off x="4690872" y="3108960"/>
            <a:ext cx="2834640" cy="777240"/>
          </a:xfrm>
          <a:prstGeom prst="rect">
            <a:avLst/>
          </a:prstGeom>
          <a:noFill/>
          <a:ln/>
        </p:spPr>
        <p:txBody>
          <a:bodyPr wrap="square" lIns="0" tIns="0" rIns="0" bIns="0" rtlCol="0" anchor="t"/>
          <a:lstStyle/>
          <a:p>
            <a:pPr marL="0" indent="0">
              <a:buNone/>
            </a:pPr>
            <a:r>
              <a:rPr lang="en-US" sz="2100" b="1" dirty="0">
                <a:solidFill>
                  <a:schemeClr val="tx1"/>
                </a:solidFill>
              </a:rPr>
              <a:t>A perfect score of nothing</a:t>
            </a:r>
            <a:endParaRPr lang="en-US" sz="2100" dirty="0"/>
          </a:p>
        </p:txBody>
      </p:sp>
      <p:sp>
        <p:nvSpPr>
          <p:cNvPr id="13" name="Lesson text 2"/>
          <p:cNvSpPr txBox="1"/>
          <p:nvPr/>
        </p:nvSpPr>
        <p:spPr>
          <a:xfrm>
            <a:off x="4690872" y="3931920"/>
            <a:ext cx="2834640" cy="1371600"/>
          </a:xfrm>
          <a:prstGeom prst="rect">
            <a:avLst/>
          </a:prstGeom>
          <a:noFill/>
          <a:ln/>
        </p:spPr>
        <p:txBody>
          <a:bodyPr wrap="square" lIns="0" tIns="0" rIns="0" bIns="0" rtlCol="0" anchor="t"/>
          <a:lstStyle/>
          <a:p>
            <a:pPr marL="0" indent="0">
              <a:buNone/>
            </a:pPr>
            <a:r>
              <a:rPr lang="en-US" sz="1500" dirty="0">
                <a:solidFill>
                  <a:schemeClr val="accent4"/>
                </a:solidFill>
              </a:rPr>
              <a:t>Zero stories out of zero scored 1.00. Now a broken run scores 0.</a:t>
            </a:r>
            <a:endParaRPr lang="en-US" sz="1500" dirty="0"/>
          </a:p>
        </p:txBody>
      </p:sp>
      <p:sp>
        <p:nvSpPr>
          <p:cNvPr id="14" name="Lesson card 3"/>
          <p:cNvSpPr/>
          <p:nvPr/>
        </p:nvSpPr>
        <p:spPr>
          <a:xfrm>
            <a:off x="8101584" y="1783080"/>
            <a:ext cx="3456432" cy="3657600"/>
          </a:xfrm>
          <a:prstGeom prst="roundRect">
            <a:avLst>
              <a:gd name="adj" fmla="val 3175"/>
            </a:avLst>
          </a:prstGeom>
          <a:solidFill>
            <a:schemeClr val="bg1"/>
          </a:solidFill>
          <a:ln/>
          <a:effectLst>
            <a:outerShdw blurRad="127000" dist="25400" dir="5400000" algn="bl" rotWithShape="0">
              <a:srgbClr val="0F1E2E">
                <a:alpha val="14000"/>
              </a:srgbClr>
            </a:outerShdw>
          </a:effectLst>
        </p:spPr>
      </p:sp>
      <p:sp>
        <p:nvSpPr>
          <p:cNvPr id="15" name="Lesson icon 3 circle"/>
          <p:cNvSpPr/>
          <p:nvPr/>
        </p:nvSpPr>
        <p:spPr>
          <a:xfrm>
            <a:off x="8421624" y="2103120"/>
            <a:ext cx="731520" cy="731520"/>
          </a:xfrm>
          <a:prstGeom prst="ellipse">
            <a:avLst/>
          </a:prstGeom>
          <a:solidFill>
            <a:schemeClr val="accent1"/>
          </a:solidFill>
          <a:ln/>
        </p:spPr>
      </p:sp>
      <p:pic>
        <p:nvPicPr>
          <p:cNvPr id="16" name="Lesson icon 3" descr="Lesson icon 3"/>
          <p:cNvPicPr>
            <a:picLocks noChangeAspect="1"/>
          </p:cNvPicPr>
          <p:nvPr/>
        </p:nvPicPr>
        <p:blipFill>
          <a:blip r:embed="rId5"/>
          <a:stretch>
            <a:fillRect/>
          </a:stretch>
        </p:blipFill>
        <p:spPr>
          <a:xfrm>
            <a:off x="8619134" y="2300630"/>
            <a:ext cx="336499" cy="336499"/>
          </a:xfrm>
          <a:prstGeom prst="rect">
            <a:avLst/>
          </a:prstGeom>
        </p:spPr>
      </p:pic>
      <p:sp>
        <p:nvSpPr>
          <p:cNvPr id="17" name="Lesson title 3"/>
          <p:cNvSpPr txBox="1"/>
          <p:nvPr/>
        </p:nvSpPr>
        <p:spPr>
          <a:xfrm>
            <a:off x="8421624" y="3108960"/>
            <a:ext cx="2834640" cy="777240"/>
          </a:xfrm>
          <a:prstGeom prst="rect">
            <a:avLst/>
          </a:prstGeom>
          <a:noFill/>
          <a:ln/>
        </p:spPr>
        <p:txBody>
          <a:bodyPr wrap="square" lIns="0" tIns="0" rIns="0" bIns="0" rtlCol="0" anchor="t"/>
          <a:lstStyle/>
          <a:p>
            <a:pPr marL="0" indent="0">
              <a:buNone/>
            </a:pPr>
            <a:r>
              <a:rPr lang="en-US" sz="2100" b="1" dirty="0">
                <a:solidFill>
                  <a:schemeClr val="tx1"/>
                </a:solidFill>
              </a:rPr>
              <a:t>A model swap broke one test</a:t>
            </a:r>
            <a:endParaRPr lang="en-US" sz="2100" dirty="0"/>
          </a:p>
        </p:txBody>
      </p:sp>
      <p:sp>
        <p:nvSpPr>
          <p:cNvPr id="18" name="Lesson text 3"/>
          <p:cNvSpPr txBox="1"/>
          <p:nvPr/>
        </p:nvSpPr>
        <p:spPr>
          <a:xfrm>
            <a:off x="8421624" y="3931920"/>
            <a:ext cx="2834640" cy="1371600"/>
          </a:xfrm>
          <a:prstGeom prst="rect">
            <a:avLst/>
          </a:prstGeom>
          <a:noFill/>
          <a:ln/>
        </p:spPr>
        <p:txBody>
          <a:bodyPr wrap="square" lIns="0" tIns="0" rIns="0" bIns="0" rtlCol="0" anchor="t"/>
          <a:lstStyle/>
          <a:p>
            <a:pPr marL="0" indent="0">
              <a:buNone/>
            </a:pPr>
            <a:r>
              <a:rPr lang="en-US" sz="1500" dirty="0">
                <a:solidFill>
                  <a:schemeClr val="accent4"/>
                </a:solidFill>
              </a:rPr>
              <a:t>Changing the model on one agent failed T2. The regression suite caught it and a prompt fix resolved it.</a:t>
            </a:r>
            <a:endParaRPr lang="en-US" sz="15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accent2"/>
                </a:solidFill>
              </a:rPr>
              <a:t>COST AND OBSERVABILITY</a:t>
            </a:r>
            <a:endParaRPr lang="en-US" sz="1300" dirty="0"/>
          </a:p>
        </p:txBody>
      </p:sp>
      <p:sp>
        <p:nvSpPr>
          <p:cNvPr id="3" name="Text 1"/>
          <p:cNvSpPr>
            <a:spLocks noGrp="1"/>
          </p:cNvSpPr>
          <p:nvPr>
            <p:ph type="title" idx="102" hasCustomPrompt="1"/>
          </p:nvPr>
        </p:nvSpPr>
        <p:spPr>
          <a:xfrm>
            <a:off x="640080" y="713232"/>
            <a:ext cx="10881360" cy="868680"/>
          </a:xfrm>
          <a:prstGeom prst="rect">
            <a:avLst/>
          </a:prstGeom>
          <a:noFill/>
          <a:ln/>
        </p:spPr>
        <p:txBody>
          <a:bodyPr wrap="square" lIns="0" tIns="0" rIns="0" bIns="0" rtlCol="0" anchor="t"/>
          <a:lstStyle/>
          <a:p>
            <a:pPr marL="0" indent="0" algn="l">
              <a:buNone/>
            </a:pPr>
            <a:r>
              <a:rPr lang="en-US" sz="3400" b="1" dirty="0">
                <a:solidFill>
                  <a:schemeClr val="bg1"/>
                </a:solidFill>
              </a:rPr>
              <a:t>About half a cent per PRD, fully traced</a:t>
            </a:r>
            <a:endParaRPr lang="en-US" sz="3400" dirty="0"/>
          </a:p>
        </p:txBody>
      </p:sp>
      <p:sp>
        <p:nvSpPr>
          <p:cNvPr id="4" name="Cost number"/>
          <p:cNvSpPr txBox="1"/>
          <p:nvPr/>
        </p:nvSpPr>
        <p:spPr>
          <a:xfrm>
            <a:off x="640080" y="1828800"/>
            <a:ext cx="5303520" cy="1737360"/>
          </a:xfrm>
          <a:prstGeom prst="rect">
            <a:avLst/>
          </a:prstGeom>
          <a:noFill/>
          <a:ln/>
        </p:spPr>
        <p:txBody>
          <a:bodyPr wrap="square" lIns="0" tIns="0" rIns="0" bIns="0" rtlCol="0" anchor="ctr"/>
          <a:lstStyle/>
          <a:p>
            <a:pPr marL="0" indent="0">
              <a:buNone/>
            </a:pPr>
            <a:r>
              <a:rPr lang="en-US" sz="10000" b="1" dirty="0">
                <a:solidFill>
                  <a:schemeClr val="accent2"/>
                </a:solidFill>
              </a:rPr>
              <a:t>$0.005</a:t>
            </a:r>
            <a:endParaRPr lang="en-US" sz="10000" dirty="0"/>
          </a:p>
        </p:txBody>
      </p:sp>
      <p:sp>
        <p:nvSpPr>
          <p:cNvPr id="5" name="Cost caption"/>
          <p:cNvSpPr txBox="1"/>
          <p:nvPr/>
        </p:nvSpPr>
        <p:spPr>
          <a:xfrm>
            <a:off x="640080" y="3703320"/>
            <a:ext cx="4937760" cy="914400"/>
          </a:xfrm>
          <a:prstGeom prst="rect">
            <a:avLst/>
          </a:prstGeom>
          <a:noFill/>
          <a:ln/>
        </p:spPr>
        <p:txBody>
          <a:bodyPr wrap="square" lIns="0" tIns="0" rIns="0" bIns="0" rtlCol="0" anchor="t"/>
          <a:lstStyle/>
          <a:p>
            <a:pPr marL="0" indent="0">
              <a:buNone/>
            </a:pPr>
            <a:r>
              <a:rPr lang="en-US" sz="2000" dirty="0">
                <a:solidFill>
                  <a:schemeClr val="bg2"/>
                </a:solidFill>
              </a:rPr>
              <a:t>per PRD: about five model calls and 5,000 to 6,000 tokens.</a:t>
            </a:r>
            <a:endParaRPr lang="en-US" sz="2000" dirty="0"/>
          </a:p>
        </p:txBody>
      </p:sp>
      <p:sp>
        <p:nvSpPr>
          <p:cNvPr id="6" name="Info card 1"/>
          <p:cNvSpPr/>
          <p:nvPr/>
        </p:nvSpPr>
        <p:spPr>
          <a:xfrm>
            <a:off x="6309360" y="1783080"/>
            <a:ext cx="5257800" cy="1188720"/>
          </a:xfrm>
          <a:prstGeom prst="roundRect">
            <a:avLst>
              <a:gd name="adj" fmla="val 9231"/>
            </a:avLst>
          </a:prstGeom>
          <a:solidFill>
            <a:schemeClr val="tx2"/>
          </a:solidFill>
          <a:ln/>
        </p:spPr>
      </p:sp>
      <p:sp>
        <p:nvSpPr>
          <p:cNvPr id="7" name="Info label 1"/>
          <p:cNvSpPr txBox="1"/>
          <p:nvPr/>
        </p:nvSpPr>
        <p:spPr>
          <a:xfrm>
            <a:off x="6583680" y="1938528"/>
            <a:ext cx="475488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TRACING</a:t>
            </a:r>
            <a:endParaRPr lang="en-US" sz="1200" dirty="0"/>
          </a:p>
        </p:txBody>
      </p:sp>
      <p:sp>
        <p:nvSpPr>
          <p:cNvPr id="8" name="Info text 1"/>
          <p:cNvSpPr txBox="1"/>
          <p:nvPr/>
        </p:nvSpPr>
        <p:spPr>
          <a:xfrm>
            <a:off x="6583680" y="2258568"/>
            <a:ext cx="4754880" cy="640080"/>
          </a:xfrm>
          <a:prstGeom prst="rect">
            <a:avLst/>
          </a:prstGeom>
          <a:noFill/>
          <a:ln/>
        </p:spPr>
        <p:txBody>
          <a:bodyPr wrap="square" lIns="0" tIns="0" rIns="0" bIns="0" rtlCol="0" anchor="t"/>
          <a:lstStyle/>
          <a:p>
            <a:pPr marL="0" indent="0">
              <a:buNone/>
            </a:pPr>
            <a:r>
              <a:rPr lang="en-US" sz="1600" dirty="0">
                <a:solidFill>
                  <a:schemeClr val="bg1"/>
                </a:solidFill>
              </a:rPr>
              <a:t>One trace per run and one generation per agent in Langfuse.</a:t>
            </a:r>
            <a:endParaRPr lang="en-US" sz="1600" dirty="0"/>
          </a:p>
        </p:txBody>
      </p:sp>
      <p:sp>
        <p:nvSpPr>
          <p:cNvPr id="9" name="Info card 2"/>
          <p:cNvSpPr/>
          <p:nvPr/>
        </p:nvSpPr>
        <p:spPr>
          <a:xfrm>
            <a:off x="6309360" y="3154680"/>
            <a:ext cx="5257800" cy="1188720"/>
          </a:xfrm>
          <a:prstGeom prst="roundRect">
            <a:avLst>
              <a:gd name="adj" fmla="val 9231"/>
            </a:avLst>
          </a:prstGeom>
          <a:solidFill>
            <a:schemeClr val="tx2"/>
          </a:solidFill>
          <a:ln/>
        </p:spPr>
      </p:sp>
      <p:sp>
        <p:nvSpPr>
          <p:cNvPr id="10" name="Info label 2"/>
          <p:cNvSpPr txBox="1"/>
          <p:nvPr/>
        </p:nvSpPr>
        <p:spPr>
          <a:xfrm>
            <a:off x="6583680" y="3310128"/>
            <a:ext cx="475488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SCORES</a:t>
            </a:r>
            <a:endParaRPr lang="en-US" sz="1200" dirty="0"/>
          </a:p>
        </p:txBody>
      </p:sp>
      <p:sp>
        <p:nvSpPr>
          <p:cNvPr id="11" name="Info text 2"/>
          <p:cNvSpPr txBox="1"/>
          <p:nvPr/>
        </p:nvSpPr>
        <p:spPr>
          <a:xfrm>
            <a:off x="6583680" y="3630168"/>
            <a:ext cx="4754880" cy="640080"/>
          </a:xfrm>
          <a:prstGeom prst="rect">
            <a:avLst/>
          </a:prstGeom>
          <a:noFill/>
          <a:ln/>
        </p:spPr>
        <p:txBody>
          <a:bodyPr wrap="square" lIns="0" tIns="0" rIns="0" bIns="0" rtlCol="0" anchor="t"/>
          <a:lstStyle/>
          <a:p>
            <a:pPr marL="0" indent="0">
              <a:buNone/>
            </a:pPr>
            <a:r>
              <a:rPr lang="en-US" sz="1600" dirty="0">
                <a:solidFill>
                  <a:schemeClr val="bg1"/>
                </a:solidFill>
              </a:rPr>
              <a:t>quote_grounding and story_traceability on every run.</a:t>
            </a:r>
            <a:endParaRPr lang="en-US" sz="1600" dirty="0"/>
          </a:p>
        </p:txBody>
      </p:sp>
      <p:sp>
        <p:nvSpPr>
          <p:cNvPr id="12" name="Info card 3"/>
          <p:cNvSpPr/>
          <p:nvPr/>
        </p:nvSpPr>
        <p:spPr>
          <a:xfrm>
            <a:off x="6309360" y="4526280"/>
            <a:ext cx="5257800" cy="1188720"/>
          </a:xfrm>
          <a:prstGeom prst="roundRect">
            <a:avLst>
              <a:gd name="adj" fmla="val 9231"/>
            </a:avLst>
          </a:prstGeom>
          <a:solidFill>
            <a:schemeClr val="tx2"/>
          </a:solidFill>
          <a:ln/>
        </p:spPr>
      </p:sp>
      <p:sp>
        <p:nvSpPr>
          <p:cNvPr id="13" name="Info label 3"/>
          <p:cNvSpPr txBox="1"/>
          <p:nvPr/>
        </p:nvSpPr>
        <p:spPr>
          <a:xfrm>
            <a:off x="6583680" y="4681728"/>
            <a:ext cx="475488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AT SCALE</a:t>
            </a:r>
            <a:endParaRPr lang="en-US" sz="1200" dirty="0"/>
          </a:p>
        </p:txBody>
      </p:sp>
      <p:sp>
        <p:nvSpPr>
          <p:cNvPr id="14" name="Info text 3"/>
          <p:cNvSpPr txBox="1"/>
          <p:nvPr/>
        </p:nvSpPr>
        <p:spPr>
          <a:xfrm>
            <a:off x="6583680" y="5001768"/>
            <a:ext cx="4754880" cy="640080"/>
          </a:xfrm>
          <a:prstGeom prst="rect">
            <a:avLst/>
          </a:prstGeom>
          <a:noFill/>
          <a:ln/>
        </p:spPr>
        <p:txBody>
          <a:bodyPr wrap="square" lIns="0" tIns="0" rIns="0" bIns="0" rtlCol="0" anchor="t"/>
          <a:lstStyle/>
          <a:p>
            <a:pPr marL="0" indent="0">
              <a:buNone/>
            </a:pPr>
            <a:r>
              <a:rPr lang="en-US" sz="1600" dirty="0">
                <a:solidFill>
                  <a:schemeClr val="bg1"/>
                </a:solidFill>
              </a:rPr>
              <a:t>Ten test inputs cost about five cents. 100 PRDs a day is roughly 50 cents (estimate).</a:t>
            </a:r>
            <a:endParaRPr lang="en-US" sz="1600" dirty="0"/>
          </a:p>
        </p:txBody>
      </p:sp>
      <p:sp>
        <p:nvSpPr>
          <p:cNvPr id="15" name="Cost footnote"/>
          <p:cNvSpPr txBox="1"/>
          <p:nvPr/>
        </p:nvSpPr>
        <p:spPr>
          <a:xfrm>
            <a:off x="640080" y="5897880"/>
            <a:ext cx="7315200" cy="274320"/>
          </a:xfrm>
          <a:prstGeom prst="rect">
            <a:avLst/>
          </a:prstGeom>
          <a:noFill/>
          <a:ln/>
        </p:spPr>
        <p:txBody>
          <a:bodyPr wrap="square" lIns="0" tIns="0" rIns="0" bIns="0" rtlCol="0" anchor="t"/>
          <a:lstStyle/>
          <a:p>
            <a:pPr marL="0" indent="0">
              <a:buNone/>
            </a:pPr>
            <a:r>
              <a:rPr lang="en-US" sz="1200" dirty="0">
                <a:solidFill>
                  <a:schemeClr val="bg2"/>
                </a:solidFill>
              </a:rPr>
              <a:t>Langfuse list-price estimate; varies with input length.</a:t>
            </a:r>
            <a:endParaRPr lang="en-US" sz="12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84048"/>
            <a:ext cx="8229600"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LIMITS AND NEXT STEPS</a:t>
            </a:r>
            <a:endParaRPr lang="en-US" sz="1300" dirty="0"/>
          </a:p>
        </p:txBody>
      </p:sp>
      <p:sp>
        <p:nvSpPr>
          <p:cNvPr id="3" name="Text 1"/>
          <p:cNvSpPr>
            <a:spLocks noGrp="1"/>
          </p:cNvSpPr>
          <p:nvPr>
            <p:ph type="title" idx="102" hasCustomPrompt="1"/>
          </p:nvPr>
        </p:nvSpPr>
        <p:spPr>
          <a:xfrm>
            <a:off x="640080" y="713232"/>
            <a:ext cx="10881360" cy="868680"/>
          </a:xfrm>
          <a:prstGeom prst="rect">
            <a:avLst/>
          </a:prstGeom>
          <a:noFill/>
          <a:ln/>
        </p:spPr>
        <p:txBody>
          <a:bodyPr wrap="square" lIns="0" tIns="0" rIns="0" bIns="0" rtlCol="0" anchor="t"/>
          <a:lstStyle/>
          <a:p>
            <a:pPr marL="0" indent="0" algn="l">
              <a:buNone/>
            </a:pPr>
            <a:r>
              <a:rPr lang="en-US" sz="3400" b="1" dirty="0">
                <a:solidFill>
                  <a:schemeClr val="tx1"/>
                </a:solidFill>
              </a:rPr>
              <a:t>What is not done yet, and what comes next</a:t>
            </a:r>
            <a:endParaRPr lang="en-US" sz="3400" dirty="0"/>
          </a:p>
        </p:txBody>
      </p:sp>
      <p:sp>
        <p:nvSpPr>
          <p:cNvPr id="4" name="Column card 1"/>
          <p:cNvSpPr/>
          <p:nvPr/>
        </p:nvSpPr>
        <p:spPr>
          <a:xfrm>
            <a:off x="640080" y="1783080"/>
            <a:ext cx="5349240" cy="3337560"/>
          </a:xfrm>
          <a:prstGeom prst="roundRect">
            <a:avLst>
              <a:gd name="adj" fmla="val 3288"/>
            </a:avLst>
          </a:prstGeom>
          <a:solidFill>
            <a:schemeClr val="bg1"/>
          </a:solidFill>
          <a:ln/>
          <a:effectLst>
            <a:outerShdw blurRad="127000" dist="25400" dir="5400000" algn="bl" rotWithShape="0">
              <a:srgbClr val="0F1E2E">
                <a:alpha val="14000"/>
              </a:srgbClr>
            </a:outerShdw>
          </a:effectLst>
        </p:spPr>
      </p:sp>
      <p:sp>
        <p:nvSpPr>
          <p:cNvPr id="5" name="Column icon 1 circle"/>
          <p:cNvSpPr/>
          <p:nvPr/>
        </p:nvSpPr>
        <p:spPr>
          <a:xfrm>
            <a:off x="960120" y="2057400"/>
            <a:ext cx="594360" cy="594360"/>
          </a:xfrm>
          <a:prstGeom prst="ellipse">
            <a:avLst/>
          </a:prstGeom>
          <a:solidFill>
            <a:schemeClr val="accent3"/>
          </a:solidFill>
          <a:ln/>
        </p:spPr>
      </p:sp>
      <p:pic>
        <p:nvPicPr>
          <p:cNvPr id="6" name="Column icon 1" descr="Column icon 1"/>
          <p:cNvPicPr>
            <a:picLocks noChangeAspect="1"/>
          </p:cNvPicPr>
          <p:nvPr/>
        </p:nvPicPr>
        <p:blipFill>
          <a:blip r:embed="rId3"/>
          <a:stretch>
            <a:fillRect/>
          </a:stretch>
        </p:blipFill>
        <p:spPr>
          <a:xfrm>
            <a:off x="1120597" y="2217877"/>
            <a:ext cx="273406" cy="273406"/>
          </a:xfrm>
          <a:prstGeom prst="rect">
            <a:avLst/>
          </a:prstGeom>
        </p:spPr>
      </p:pic>
      <p:sp>
        <p:nvSpPr>
          <p:cNvPr id="7" name="Column title 1"/>
          <p:cNvSpPr txBox="1"/>
          <p:nvPr/>
        </p:nvSpPr>
        <p:spPr>
          <a:xfrm>
            <a:off x="1737360" y="2148840"/>
            <a:ext cx="3840480" cy="457200"/>
          </a:xfrm>
          <a:prstGeom prst="rect">
            <a:avLst/>
          </a:prstGeom>
          <a:noFill/>
          <a:ln/>
        </p:spPr>
        <p:txBody>
          <a:bodyPr wrap="square" lIns="0" tIns="0" rIns="0" bIns="0" rtlCol="0" anchor="ctr"/>
          <a:lstStyle/>
          <a:p>
            <a:pPr marL="0" indent="0">
              <a:buNone/>
            </a:pPr>
            <a:r>
              <a:rPr lang="en-US" sz="2200" b="1" dirty="0">
                <a:solidFill>
                  <a:schemeClr val="tx1"/>
                </a:solidFill>
              </a:rPr>
              <a:t>Known limits</a:t>
            </a:r>
            <a:endParaRPr lang="en-US" sz="2200" dirty="0"/>
          </a:p>
        </p:txBody>
      </p:sp>
      <p:sp>
        <p:nvSpPr>
          <p:cNvPr id="8" name="Column list 1"/>
          <p:cNvSpPr txBox="1"/>
          <p:nvPr/>
        </p:nvSpPr>
        <p:spPr>
          <a:xfrm>
            <a:off x="1005840" y="2834640"/>
            <a:ext cx="4663440" cy="219456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accent4"/>
                </a:solidFill>
              </a:rPr>
              <a:t>Prompts were tuned on the same 12 tests.</a:t>
            </a:r>
            <a:endParaRPr lang="en-US" sz="1800" dirty="0"/>
          </a:p>
          <a:p>
            <a:pPr marL="342900" indent="-342900">
              <a:spcAft>
                <a:spcPts val="600"/>
              </a:spcAft>
              <a:buSzPct val="100000"/>
              <a:buChar char="•"/>
            </a:pPr>
            <a:r>
              <a:rPr lang="en-US" sz="1800" dirty="0">
                <a:solidFill>
                  <a:schemeClr val="accent4"/>
                </a:solidFill>
              </a:rPr>
              <a:t>The Drive path is not in the automated suite.</a:t>
            </a:r>
            <a:endParaRPr lang="en-US" sz="1800" dirty="0"/>
          </a:p>
        </p:txBody>
      </p:sp>
      <p:sp>
        <p:nvSpPr>
          <p:cNvPr id="9" name="Column card 2"/>
          <p:cNvSpPr/>
          <p:nvPr/>
        </p:nvSpPr>
        <p:spPr>
          <a:xfrm>
            <a:off x="6263640" y="1783080"/>
            <a:ext cx="5349240" cy="3337560"/>
          </a:xfrm>
          <a:prstGeom prst="roundRect">
            <a:avLst>
              <a:gd name="adj" fmla="val 3288"/>
            </a:avLst>
          </a:prstGeom>
          <a:solidFill>
            <a:schemeClr val="bg1"/>
          </a:solidFill>
          <a:ln/>
          <a:effectLst>
            <a:outerShdw blurRad="127000" dist="25400" dir="5400000" algn="bl" rotWithShape="0">
              <a:srgbClr val="0F1E2E">
                <a:alpha val="14000"/>
              </a:srgbClr>
            </a:outerShdw>
          </a:effectLst>
        </p:spPr>
      </p:sp>
      <p:sp>
        <p:nvSpPr>
          <p:cNvPr id="10" name="Column icon 2 circle"/>
          <p:cNvSpPr/>
          <p:nvPr/>
        </p:nvSpPr>
        <p:spPr>
          <a:xfrm>
            <a:off x="6583680" y="2057400"/>
            <a:ext cx="594360" cy="594360"/>
          </a:xfrm>
          <a:prstGeom prst="ellipse">
            <a:avLst/>
          </a:prstGeom>
          <a:solidFill>
            <a:schemeClr val="accent1"/>
          </a:solidFill>
          <a:ln/>
        </p:spPr>
      </p:sp>
      <p:pic>
        <p:nvPicPr>
          <p:cNvPr id="11" name="Column icon 2" descr="Column icon 2"/>
          <p:cNvPicPr>
            <a:picLocks noChangeAspect="1"/>
          </p:cNvPicPr>
          <p:nvPr/>
        </p:nvPicPr>
        <p:blipFill>
          <a:blip r:embed="rId4"/>
          <a:stretch>
            <a:fillRect/>
          </a:stretch>
        </p:blipFill>
        <p:spPr>
          <a:xfrm>
            <a:off x="6744157" y="2217877"/>
            <a:ext cx="273406" cy="273406"/>
          </a:xfrm>
          <a:prstGeom prst="rect">
            <a:avLst/>
          </a:prstGeom>
        </p:spPr>
      </p:pic>
      <p:sp>
        <p:nvSpPr>
          <p:cNvPr id="12" name="Column title 2"/>
          <p:cNvSpPr txBox="1"/>
          <p:nvPr/>
        </p:nvSpPr>
        <p:spPr>
          <a:xfrm>
            <a:off x="7360920" y="2148840"/>
            <a:ext cx="3840480" cy="457200"/>
          </a:xfrm>
          <a:prstGeom prst="rect">
            <a:avLst/>
          </a:prstGeom>
          <a:noFill/>
          <a:ln/>
        </p:spPr>
        <p:txBody>
          <a:bodyPr wrap="square" lIns="0" tIns="0" rIns="0" bIns="0" rtlCol="0" anchor="ctr"/>
          <a:lstStyle/>
          <a:p>
            <a:pPr marL="0" indent="0">
              <a:buNone/>
            </a:pPr>
            <a:r>
              <a:rPr lang="en-US" sz="2200" b="1" dirty="0">
                <a:solidFill>
                  <a:schemeClr val="tx1"/>
                </a:solidFill>
              </a:rPr>
              <a:t>Next steps</a:t>
            </a:r>
            <a:endParaRPr lang="en-US" sz="2200" dirty="0"/>
          </a:p>
        </p:txBody>
      </p:sp>
      <p:sp>
        <p:nvSpPr>
          <p:cNvPr id="13" name="Column list 2"/>
          <p:cNvSpPr txBox="1"/>
          <p:nvPr/>
        </p:nvSpPr>
        <p:spPr>
          <a:xfrm>
            <a:off x="6629400" y="2834640"/>
            <a:ext cx="4663440" cy="219456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accent4"/>
                </a:solidFill>
              </a:rPr>
              <a:t>Build a held-out set from anonymized real transcripts.</a:t>
            </a:r>
            <a:endParaRPr lang="en-US" sz="1800" dirty="0"/>
          </a:p>
          <a:p>
            <a:pPr marL="342900" indent="-342900">
              <a:spcAft>
                <a:spcPts val="600"/>
              </a:spcAft>
              <a:buSzPct val="100000"/>
              <a:buChar char="•"/>
            </a:pPr>
            <a:r>
              <a:rPr lang="en-US" sz="1800" dirty="0">
                <a:solidFill>
                  <a:schemeClr val="accent4"/>
                </a:solidFill>
              </a:rPr>
              <a:t>Move tracing to OpenTelemetry before 16 November 2026.</a:t>
            </a:r>
            <a:endParaRPr lang="en-US" sz="1800" dirty="0"/>
          </a:p>
          <a:p>
            <a:pPr marL="342900" indent="-342900">
              <a:spcAft>
                <a:spcPts val="600"/>
              </a:spcAft>
              <a:buSzPct val="100000"/>
              <a:buChar char="•"/>
            </a:pPr>
            <a:r>
              <a:rPr lang="en-US" sz="1800" dirty="0">
                <a:solidFill>
                  <a:schemeClr val="accent4"/>
                </a:solidFill>
              </a:rPr>
              <a:t>Split multi-meeting/muti-transcript files before processing.</a:t>
            </a:r>
            <a:endParaRPr lang="en-US" sz="1800" dirty="0"/>
          </a:p>
        </p:txBody>
      </p:sp>
      <p:sp>
        <p:nvSpPr>
          <p:cNvPr id="14" name="Repo link"/>
          <p:cNvSpPr txBox="1"/>
          <p:nvPr/>
        </p:nvSpPr>
        <p:spPr>
          <a:xfrm>
            <a:off x="640080" y="5440680"/>
            <a:ext cx="10881360" cy="457200"/>
          </a:xfrm>
          <a:prstGeom prst="rect">
            <a:avLst/>
          </a:prstGeom>
          <a:noFill/>
          <a:ln/>
        </p:spPr>
        <p:txBody>
          <a:bodyPr wrap="square" lIns="0" tIns="0" rIns="0" bIns="0" rtlCol="0" anchor="t"/>
          <a:lstStyle/>
          <a:p>
            <a:pPr marL="0" indent="0">
              <a:buNone/>
            </a:pPr>
            <a:r>
              <a:rPr lang="en-US" sz="1800" b="1" dirty="0">
                <a:solidFill>
                  <a:schemeClr val="accent1"/>
                </a:solidFill>
              </a:rPr>
              <a:t>Code, tests, and write-ups: github.com</a:t>
            </a:r>
            <a:r>
              <a:rPr lang="en-US" sz="1800" b="1">
                <a:solidFill>
                  <a:schemeClr val="accent1"/>
                </a:solidFill>
              </a:rPr>
              <a:t>/bsanthosh1985/</a:t>
            </a:r>
            <a:r>
              <a:rPr lang="en-US" sz="1800" b="1" dirty="0">
                <a:solidFill>
                  <a:schemeClr val="accent1"/>
                </a:solidFill>
              </a:rPr>
              <a:t>prd-genie</a:t>
            </a:r>
            <a:endParaRPr lang="en-US" sz="1800" dirty="0"/>
          </a:p>
        </p:txBody>
      </p:sp>
      <p:sp>
        <p:nvSpPr>
          <p:cNvPr id="25" name="Slide Number Placeholder 0"/>
          <p:cNvSpPr>
            <a:spLocks noGrp="1"/>
          </p:cNvSpPr>
          <p:nvPr>
            <p:ph type="sldNum" sz="quarter" idx="4294967295"/>
          </p:nvPr>
        </p:nvSpPr>
        <p:spPr>
          <a:xfrm>
            <a:off x="10835640" y="6382512"/>
            <a:ext cx="73152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PRD Genie">
  <a:themeElements>
    <a:clrScheme name="PRD Genie">
      <a:dk1>
        <a:srgbClr val="0F1E2E"/>
      </a:dk1>
      <a:lt1>
        <a:srgbClr val="FFFFFF"/>
      </a:lt1>
      <a:dk2>
        <a:srgbClr val="17304A"/>
      </a:dk2>
      <a:lt2>
        <a:srgbClr val="F1F5F8"/>
      </a:lt2>
      <a:accent1>
        <a:srgbClr val="0B6F68"/>
      </a:accent1>
      <a:accent2>
        <a:srgbClr val="3CC3B7"/>
      </a:accent2>
      <a:accent3>
        <a:srgbClr val="E2A33B"/>
      </a:accent3>
      <a:accent4>
        <a:srgbClr val="3A4756"/>
      </a:accent4>
      <a:accent5>
        <a:srgbClr val="5B6775"/>
      </a:accent5>
      <a:accent6>
        <a:srgbClr val="095A55"/>
      </a:accent6>
      <a:hlink>
        <a:srgbClr val="0B6F68"/>
      </a:hlink>
      <a:folHlink>
        <a:srgbClr val="5B6775"/>
      </a:folHlink>
    </a:clrScheme>
    <a:fontScheme name="PRD Geni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1208</Words>
  <Application>Microsoft Office PowerPoint</Application>
  <PresentationFormat>Widescreen</PresentationFormat>
  <Paragraphs>140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PRD Genie</vt:lpstr>
      <vt:lpstr>PRD Genie</vt:lpstr>
      <vt:lpstr>Meetings to requirements: slow and manual</vt:lpstr>
      <vt:lpstr>From raw notes to engineering-ready work</vt:lpstr>
      <vt:lpstr>A sequential pipeline with a parallel finish</vt:lpstr>
      <vt:lpstr>Every requirement traces back to the input</vt:lpstr>
      <vt:lpstr>Files in a Drive folder become PRD files</vt:lpstr>
      <vt:lpstr>PowerPoint Presentation</vt:lpstr>
      <vt:lpstr>Green dashboards can hide wrong answers</vt:lpstr>
      <vt:lpstr>About half a cent per PRD, fully traced</vt:lpstr>
      <vt:lpstr>What is not done yet, and what comes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PRD Genie: Capstone Deck</dc:title>
  <dc:subject>PptxGenJS Presentation</dc:subject>
  <dc:creator>Santhosh</dc:creator>
  <cp:lastModifiedBy>Santhosh Kumar Balan</cp:lastModifiedBy>
  <cp:revision>3</cp:revision>
  <dcterms:created xsi:type="dcterms:W3CDTF">2026-10-02T20:36:37Z</dcterms:created>
  <dcterms:modified xsi:type="dcterms:W3CDTF">2026-10-12T14:42:58Z</dcterms:modified>
</cp:coreProperties>
</file>